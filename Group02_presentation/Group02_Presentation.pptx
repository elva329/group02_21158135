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74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" dt="2026-10-14T13:57:18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746" autoAdjust="0"/>
  </p:normalViewPr>
  <p:slideViewPr>
    <p:cSldViewPr snapToGrid="0" snapToObjects="1">
      <p:cViewPr varScale="1">
        <p:scale>
          <a:sx n="100" d="100"/>
          <a:sy n="100" d="100"/>
        </p:scale>
        <p:origin x="119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AI Chungkai" userId="S::ctsaiad@connect.ust.hk::7c298410-2c9d-4300-8d08-e7d318004b1d" providerId="AD" clId="Web-{00000000-0000-0000-0000-000000000000}"/>
    <pc:docChg chg="modSld">
      <pc:chgData name="TSAI Chungkai" userId="S::ctsaiad@connect.ust.hk::7c298410-2c9d-4300-8d08-e7d318004b1d" providerId="AD" clId="Web-{00000000-0000-0000-0000-000000000000}" dt="2026-10-14T13:57:48.597" v="25"/>
      <pc:docMkLst>
        <pc:docMk/>
      </pc:docMkLst>
      <pc:sldChg chg="modSp modNotes">
        <pc:chgData name="TSAI Chungkai" userId="S::ctsaiad@connect.ust.hk::7c298410-2c9d-4300-8d08-e7d318004b1d" providerId="AD" clId="Web-{00000000-0000-0000-0000-000000000000}" dt="2026-10-14T13:57:30.252" v="18"/>
        <pc:sldMkLst>
          <pc:docMk/>
          <pc:sldMk cId="0" sldId="256"/>
        </pc:sldMkLst>
        <pc:spChg chg="mod">
          <ac:chgData name="TSAI Chungkai" userId="S::ctsaiad@connect.ust.hk::7c298410-2c9d-4300-8d08-e7d318004b1d" providerId="AD" clId="Web-{00000000-0000-0000-0000-000000000000}" dt="2026-10-14T13:57:18.065" v="17"/>
          <ac:spMkLst>
            <pc:docMk/>
            <pc:sldMk cId="0" sldId="256"/>
            <ac:spMk id="3" creationId="{00000000-0000-0000-0000-000000000000}"/>
          </ac:spMkLst>
        </pc:spChg>
        <pc:spChg chg="mod">
          <ac:chgData name="TSAI Chungkai" userId="S::ctsaiad@connect.ust.hk::7c298410-2c9d-4300-8d08-e7d318004b1d" providerId="AD" clId="Web-{00000000-0000-0000-0000-000000000000}" dt="2026-10-14T13:57:18.065" v="16"/>
          <ac:spMkLst>
            <pc:docMk/>
            <pc:sldMk cId="0" sldId="256"/>
            <ac:spMk id="4" creationId="{00000000-0000-0000-0000-000000000000}"/>
          </ac:spMkLst>
        </pc:spChg>
        <pc:spChg chg="mod">
          <ac:chgData name="TSAI Chungkai" userId="S::ctsaiad@connect.ust.hk::7c298410-2c9d-4300-8d08-e7d318004b1d" providerId="AD" clId="Web-{00000000-0000-0000-0000-000000000000}" dt="2026-10-14T13:57:18.065" v="15"/>
          <ac:spMkLst>
            <pc:docMk/>
            <pc:sldMk cId="0" sldId="256"/>
            <ac:spMk id="5" creationId="{00000000-0000-0000-0000-000000000000}"/>
          </ac:spMkLst>
        </pc:spChg>
        <pc:spChg chg="mod">
          <ac:chgData name="TSAI Chungkai" userId="S::ctsaiad@connect.ust.hk::7c298410-2c9d-4300-8d08-e7d318004b1d" providerId="AD" clId="Web-{00000000-0000-0000-0000-000000000000}" dt="2026-10-14T13:57:18.065" v="14"/>
          <ac:spMkLst>
            <pc:docMk/>
            <pc:sldMk cId="0" sldId="256"/>
            <ac:spMk id="6" creationId="{00000000-0000-0000-0000-000000000000}"/>
          </ac:spMkLst>
        </pc:spChg>
        <pc:spChg chg="mod">
          <ac:chgData name="TSAI Chungkai" userId="S::ctsaiad@connect.ust.hk::7c298410-2c9d-4300-8d08-e7d318004b1d" providerId="AD" clId="Web-{00000000-0000-0000-0000-000000000000}" dt="2026-10-14T13:57:18.065" v="13"/>
          <ac:spMkLst>
            <pc:docMk/>
            <pc:sldMk cId="0" sldId="256"/>
            <ac:spMk id="7" creationId="{00000000-0000-0000-0000-000000000000}"/>
          </ac:spMkLst>
        </pc:spChg>
        <pc:spChg chg="mod">
          <ac:chgData name="TSAI Chungkai" userId="S::ctsaiad@connect.ust.hk::7c298410-2c9d-4300-8d08-e7d318004b1d" providerId="AD" clId="Web-{00000000-0000-0000-0000-000000000000}" dt="2026-10-14T13:57:18.065" v="12"/>
          <ac:spMkLst>
            <pc:docMk/>
            <pc:sldMk cId="0" sldId="256"/>
            <ac:spMk id="8" creationId="{00000000-0000-0000-0000-000000000000}"/>
          </ac:spMkLst>
        </pc:spChg>
        <pc:spChg chg="mod">
          <ac:chgData name="TSAI Chungkai" userId="S::ctsaiad@connect.ust.hk::7c298410-2c9d-4300-8d08-e7d318004b1d" providerId="AD" clId="Web-{00000000-0000-0000-0000-000000000000}" dt="2026-10-14T13:57:18.065" v="11"/>
          <ac:spMkLst>
            <pc:docMk/>
            <pc:sldMk cId="0" sldId="256"/>
            <ac:spMk id="11" creationId="{00000000-0000-0000-0000-000000000000}"/>
          </ac:spMkLst>
        </pc:spChg>
        <pc:spChg chg="mod">
          <ac:chgData name="TSAI Chungkai" userId="S::ctsaiad@connect.ust.hk::7c298410-2c9d-4300-8d08-e7d318004b1d" providerId="AD" clId="Web-{00000000-0000-0000-0000-000000000000}" dt="2026-10-14T13:57:18.065" v="1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TSAI Chungkai" userId="S::ctsaiad@connect.ust.hk::7c298410-2c9d-4300-8d08-e7d318004b1d" providerId="AD" clId="Web-{00000000-0000-0000-0000-000000000000}" dt="2026-10-14T13:57:18.065" v="9"/>
          <ac:spMkLst>
            <pc:docMk/>
            <pc:sldMk cId="0" sldId="256"/>
            <ac:spMk id="17" creationId="{00000000-0000-0000-0000-000000000000}"/>
          </ac:spMkLst>
        </pc:spChg>
      </pc:sldChg>
      <pc:sldChg chg="modNotes">
        <pc:chgData name="TSAI Chungkai" userId="S::ctsaiad@connect.ust.hk::7c298410-2c9d-4300-8d08-e7d318004b1d" providerId="AD" clId="Web-{00000000-0000-0000-0000-000000000000}" dt="2026-10-14T13:57:32.799" v="19"/>
        <pc:sldMkLst>
          <pc:docMk/>
          <pc:sldMk cId="3242228508" sldId="257"/>
        </pc:sldMkLst>
      </pc:sldChg>
      <pc:sldChg chg="modNotes">
        <pc:chgData name="TSAI Chungkai" userId="S::ctsaiad@connect.ust.hk::7c298410-2c9d-4300-8d08-e7d318004b1d" providerId="AD" clId="Web-{00000000-0000-0000-0000-000000000000}" dt="2026-10-14T13:57:34.565" v="20"/>
        <pc:sldMkLst>
          <pc:docMk/>
          <pc:sldMk cId="0" sldId="258"/>
        </pc:sldMkLst>
      </pc:sldChg>
      <pc:sldChg chg="modNotes">
        <pc:chgData name="TSAI Chungkai" userId="S::ctsaiad@connect.ust.hk::7c298410-2c9d-4300-8d08-e7d318004b1d" providerId="AD" clId="Web-{00000000-0000-0000-0000-000000000000}" dt="2026-10-14T13:57:37.565" v="21"/>
        <pc:sldMkLst>
          <pc:docMk/>
          <pc:sldMk cId="0" sldId="259"/>
        </pc:sldMkLst>
      </pc:sldChg>
      <pc:sldChg chg="modNotes">
        <pc:chgData name="TSAI Chungkai" userId="S::ctsaiad@connect.ust.hk::7c298410-2c9d-4300-8d08-e7d318004b1d" providerId="AD" clId="Web-{00000000-0000-0000-0000-000000000000}" dt="2026-10-14T13:57:40.534" v="22"/>
        <pc:sldMkLst>
          <pc:docMk/>
          <pc:sldMk cId="0" sldId="260"/>
        </pc:sldMkLst>
      </pc:sldChg>
      <pc:sldChg chg="modNotes">
        <pc:chgData name="TSAI Chungkai" userId="S::ctsaiad@connect.ust.hk::7c298410-2c9d-4300-8d08-e7d318004b1d" providerId="AD" clId="Web-{00000000-0000-0000-0000-000000000000}" dt="2026-10-14T13:57:42.956" v="23"/>
        <pc:sldMkLst>
          <pc:docMk/>
          <pc:sldMk cId="0" sldId="261"/>
        </pc:sldMkLst>
      </pc:sldChg>
      <pc:sldChg chg="modNotes">
        <pc:chgData name="TSAI Chungkai" userId="S::ctsaiad@connect.ust.hk::7c298410-2c9d-4300-8d08-e7d318004b1d" providerId="AD" clId="Web-{00000000-0000-0000-0000-000000000000}" dt="2026-10-14T13:57:45.003" v="24"/>
        <pc:sldMkLst>
          <pc:docMk/>
          <pc:sldMk cId="0" sldId="262"/>
        </pc:sldMkLst>
      </pc:sldChg>
      <pc:sldChg chg="modNotes">
        <pc:chgData name="TSAI Chungkai" userId="S::ctsaiad@connect.ust.hk::7c298410-2c9d-4300-8d08-e7d318004b1d" providerId="AD" clId="Web-{00000000-0000-0000-0000-000000000000}" dt="2026-10-14T13:57:48.597" v="25"/>
        <pc:sldMkLst>
          <pc:docMk/>
          <pc:sldMk cId="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新細明體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新細明體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新細明體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新細明體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新細明體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新細明體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新細明體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新細明體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group02.streamlit.app/?utm_medium=social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group02.streamlit.app/" TargetMode="Externa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85800" y="658368"/>
            <a:ext cx="365760" cy="32004"/>
          </a:xfrm>
          <a:prstGeom prst="rect">
            <a:avLst/>
          </a:prstGeom>
          <a:solidFill>
            <a:srgbClr val="B74C56"/>
          </a:solidFill>
          <a:ln w="12700">
            <a:solidFill>
              <a:srgbClr val="B74C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07008" y="5120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Group 02  ·  ISOM5240</a:t>
            </a:r>
            <a:endParaRPr lang="en-US" sz="12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799" y="1181862"/>
            <a:ext cx="6537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HSBC Banking Query</a:t>
            </a:r>
            <a:endParaRPr lang="en-US" sz="3800" dirty="0">
              <a:latin typeface="+mj-lt"/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Intent Router</a:t>
            </a:r>
            <a:endParaRPr lang="en-US" sz="38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799" y="2953012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A </a:t>
            </a:r>
            <a:r>
              <a:rPr lang="en-US" sz="2000" b="1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Multimodal</a:t>
            </a:r>
            <a:r>
              <a:rPr lang="en-US" sz="20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 Prototype for</a:t>
            </a:r>
          </a:p>
          <a:p>
            <a:pPr marL="0" indent="0">
              <a:buNone/>
            </a:pP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Banking Enquiry Classification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and Review Support</a:t>
            </a:r>
            <a:endParaRPr lang="en-US" sz="20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799" y="4892040"/>
            <a:ext cx="57769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5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SHEN Jia(21158135)</a:t>
            </a:r>
            <a:r>
              <a:rPr lang="en-US" sz="15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 · </a:t>
            </a:r>
            <a:r>
              <a:rPr lang="en-US" altLang="zh-TW" sz="15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TSAI </a:t>
            </a:r>
            <a:r>
              <a:rPr lang="en-US" altLang="zh-TW" sz="1500" dirty="0" err="1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Chungkai</a:t>
            </a:r>
            <a:r>
              <a:rPr lang="en-US" altLang="zh-TW" sz="15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 (21182344)</a:t>
            </a:r>
            <a:endParaRPr lang="en-US" sz="1500" dirty="0">
              <a:latin typeface="+mj-lt"/>
            </a:endParaRPr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1321307" y="5664072"/>
            <a:ext cx="21082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FF0000"/>
                </a:solidFill>
                <a:latin typeface="+mj-lt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Live Prototype</a:t>
            </a:r>
            <a:endParaRPr lang="en-US" sz="16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63276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Academic prototype. Not affiliated with or approved by HSBC.</a:t>
            </a:r>
            <a:endParaRPr lang="en-US" sz="10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26680" y="1828800"/>
            <a:ext cx="3703320" cy="914400"/>
          </a:xfrm>
          <a:prstGeom prst="rect">
            <a:avLst/>
          </a:prstGeom>
          <a:solidFill>
            <a:srgbClr val="FBF1F1"/>
          </a:solidFill>
          <a:ln w="889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mnt/data/iconfix/icon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201168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32520" y="20574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Text Input</a:t>
            </a:r>
            <a:endParaRPr lang="en-US" sz="1800" dirty="0">
              <a:latin typeface="+mj-lt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726680" y="2971800"/>
            <a:ext cx="3703320" cy="914400"/>
          </a:xfrm>
          <a:prstGeom prst="rect">
            <a:avLst/>
          </a:prstGeom>
          <a:solidFill>
            <a:srgbClr val="FBF1F1"/>
          </a:solidFill>
          <a:ln w="889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mnt/data/iconfix/icon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8" y="31546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32520" y="32004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Voice Input</a:t>
            </a:r>
            <a:endParaRPr lang="en-US" sz="1800" dirty="0">
              <a:latin typeface="+mj-lt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726680" y="4114800"/>
            <a:ext cx="3703320" cy="914400"/>
          </a:xfrm>
          <a:prstGeom prst="rect">
            <a:avLst/>
          </a:prstGeom>
          <a:solidFill>
            <a:srgbClr val="FBF1F1"/>
          </a:solidFill>
          <a:ln w="889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/mnt/data/iconfix/icon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8" y="42976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2520" y="43434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Similar Enquiries</a:t>
            </a:r>
            <a:endParaRPr lang="en-US" sz="1800" dirty="0">
              <a:latin typeface="+mj-lt"/>
            </a:endParaRPr>
          </a:p>
        </p:txBody>
      </p:sp>
      <p:pic>
        <p:nvPicPr>
          <p:cNvPr id="18" name="Picture 17" descr="HSBC Logo, symbol, meaning, history, PNG, brand">
            <a:extLst>
              <a:ext uri="{FF2B5EF4-FFF2-40B4-BE49-F238E27FC236}">
                <a16:creationId xmlns:a16="http://schemas.microsoft.com/office/drawing/2014/main" id="{B94D2740-BF6E-641E-2F15-819A967377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11129" y="0"/>
            <a:ext cx="1237742" cy="696230"/>
          </a:xfrm>
          <a:prstGeom prst="rect">
            <a:avLst/>
          </a:prstGeom>
        </p:spPr>
      </p:pic>
      <p:pic>
        <p:nvPicPr>
          <p:cNvPr id="19" name="Picture 18" descr="Streamlit Icon SVG Vector &amp; PNG Free Download | UXWing">
            <a:extLst>
              <a:ext uri="{FF2B5EF4-FFF2-40B4-BE49-F238E27FC236}">
                <a16:creationId xmlns:a16="http://schemas.microsoft.com/office/drawing/2014/main" id="{D944E943-F799-95C4-384D-A74378BBFC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197" y="5480684"/>
            <a:ext cx="606811" cy="60681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9C44CE4-267D-CEC8-C22C-EDF970EBBFD2}"/>
              </a:ext>
            </a:extLst>
          </p:cNvPr>
          <p:cNvSpPr txBox="1"/>
          <p:nvPr/>
        </p:nvSpPr>
        <p:spPr>
          <a:xfrm>
            <a:off x="600197" y="453821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97478"/>
                </a:solidFill>
              </a:rPr>
              <a:t>Group - 02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365760" cy="32004"/>
          </a:xfrm>
          <a:prstGeom prst="rect">
            <a:avLst/>
          </a:prstGeom>
          <a:solidFill>
            <a:srgbClr val="B74C56"/>
          </a:solidFill>
          <a:ln w="12700">
            <a:solidFill>
              <a:srgbClr val="B74C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07008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Business Problem</a:t>
            </a:r>
            <a:endParaRPr lang="en-US" sz="12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932688"/>
            <a:ext cx="10835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Customers speak naturally</a:t>
            </a:r>
            <a:endParaRPr lang="en-US" sz="3100" dirty="0">
              <a:latin typeface="+mj-lt"/>
            </a:endParaRPr>
          </a:p>
          <a:p>
            <a:pPr marL="0" indent="0">
              <a:buNone/>
            </a:pPr>
            <a:r>
              <a:rPr lang="en-US" sz="31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Service systems need structured intents</a:t>
            </a:r>
            <a:endParaRPr lang="en-US" sz="3100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4663440" cy="2971800"/>
          </a:xfrm>
          <a:prstGeom prst="rect">
            <a:avLst/>
          </a:prstGeom>
          <a:solidFill>
            <a:srgbClr val="FBF1F1"/>
          </a:solidFill>
          <a:ln w="12700">
            <a:solidFill>
              <a:srgbClr val="FBF1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254203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Customer enquiry</a:t>
            </a:r>
            <a:endParaRPr lang="en-US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941832" y="29260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“I do not recognize a card payment on my account.”</a:t>
            </a:r>
            <a:endParaRPr lang="en-US" sz="1600" dirty="0">
              <a:latin typeface="+mj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50976" y="4005072"/>
            <a:ext cx="4096512" cy="1"/>
          </a:xfrm>
          <a:prstGeom prst="line">
            <a:avLst/>
          </a:prstGeom>
          <a:noFill/>
          <a:ln w="1270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425196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Structured intent</a:t>
            </a:r>
            <a:endParaRPr lang="en-US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41832" y="4599432"/>
            <a:ext cx="4160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Unrecognised card payment</a:t>
            </a:r>
            <a:endParaRPr lang="en-US" sz="16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41832" y="501091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card_payment_not_recognised</a:t>
            </a:r>
            <a:endParaRPr lang="en-US" sz="115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52160" y="235915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01</a:t>
            </a:r>
            <a:endParaRPr lang="en-US" sz="15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28232" y="2340864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Different wording, same need</a:t>
            </a:r>
            <a:endParaRPr lang="en-US" sz="195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28232" y="270507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Customers may describe the same issue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using different expressions.</a:t>
            </a:r>
            <a:endParaRPr lang="en-US" sz="1200" dirty="0">
              <a:latin typeface="+mj-l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28232" y="3291840"/>
            <a:ext cx="5029200" cy="1"/>
          </a:xfrm>
          <a:prstGeom prst="line">
            <a:avLst/>
          </a:prstGeom>
          <a:noFill/>
          <a:ln w="762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33649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02</a:t>
            </a:r>
            <a:endParaRPr lang="en-US" sz="1500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28232" y="3346704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Similar wording, different intents</a:t>
            </a:r>
            <a:endParaRPr lang="en-US" sz="1950" dirty="0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28232" y="371091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Declined, pending and unrecognised payments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require different categories.</a:t>
            </a:r>
            <a:endParaRPr lang="en-US" sz="1200" dirty="0">
              <a:latin typeface="+mj-lt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28232" y="4297680"/>
            <a:ext cx="5029200" cy="1"/>
          </a:xfrm>
          <a:prstGeom prst="line">
            <a:avLst/>
          </a:prstGeom>
          <a:noFill/>
          <a:ln w="762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60" y="43708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03</a:t>
            </a:r>
            <a:endParaRPr lang="en-US" sz="1500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28232" y="4352544"/>
            <a:ext cx="5074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Different channels, one reviewable format</a:t>
            </a:r>
            <a:endParaRPr lang="en-US" sz="1950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28232" y="471675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Typed and spoken enquiries need a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consistent representation for review.</a:t>
            </a:r>
            <a:endParaRPr lang="en-US" sz="1200" dirty="0">
              <a:latin typeface="+mj-lt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5800" y="5623560"/>
            <a:ext cx="10817352" cy="502920"/>
          </a:xfrm>
          <a:prstGeom prst="rect">
            <a:avLst/>
          </a:prstGeom>
          <a:solidFill>
            <a:srgbClr val="FBF1F1"/>
          </a:solidFill>
          <a:ln w="12700">
            <a:solidFill>
              <a:srgbClr val="FBF1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77824" y="5715000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Turn varied customer expressions into </a:t>
            </a:r>
            <a:r>
              <a:rPr lang="en-US" sz="14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consistent, reviewable</a:t>
            </a:r>
            <a:r>
              <a:rPr lang="en-US" sz="14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 banking-intent information</a:t>
            </a:r>
            <a:endParaRPr lang="en-US" sz="1400" dirty="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800" y="64282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Group 02 · ISOM5240</a:t>
            </a:r>
            <a:endParaRPr lang="en-US" sz="1000" dirty="0">
              <a:latin typeface="+mj-lt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091672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02</a:t>
            </a:r>
            <a:endParaRPr lang="en-US" sz="1100" dirty="0">
              <a:latin typeface="+mj-lt"/>
            </a:endParaRPr>
          </a:p>
        </p:txBody>
      </p:sp>
      <p:pic>
        <p:nvPicPr>
          <p:cNvPr id="27" name="Picture 26" descr="HSBC Logo, symbol, meaning, history, PNG, brand">
            <a:extLst>
              <a:ext uri="{FF2B5EF4-FFF2-40B4-BE49-F238E27FC236}">
                <a16:creationId xmlns:a16="http://schemas.microsoft.com/office/drawing/2014/main" id="{028AF638-84BB-30B6-7F36-C41B51BB7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1129" y="0"/>
            <a:ext cx="1237742" cy="69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2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365760" cy="32004"/>
          </a:xfrm>
          <a:prstGeom prst="rect">
            <a:avLst/>
          </a:prstGeom>
          <a:solidFill>
            <a:srgbClr val="B74C56"/>
          </a:solidFill>
          <a:ln w="8890">
            <a:solidFill>
              <a:srgbClr val="B74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07008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Project Objective &amp; Strategy</a:t>
            </a:r>
            <a:endParaRPr lang="en-US" sz="12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789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Compare two intent-prediction approaches,</a:t>
            </a:r>
            <a:endParaRPr lang="en-US" sz="3000" dirty="0">
              <a:latin typeface="+mj-lt"/>
            </a:endParaRPr>
          </a:p>
          <a:p>
            <a:pPr marL="0" indent="0" algn="l">
              <a:buNone/>
            </a:pPr>
            <a:r>
              <a:rPr lang="en-US" sz="30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with text and voice interaction</a:t>
            </a:r>
            <a:endParaRPr lang="en-US" sz="30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64648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Group 02 · ISOM5240</a:t>
            </a:r>
            <a:endParaRPr lang="en-US" sz="10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91672" y="643737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03</a:t>
            </a:r>
            <a:endParaRPr lang="en-US" sz="11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Our </a:t>
            </a:r>
            <a:r>
              <a:rPr lang="en-US" altLang="zh-TW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O</a:t>
            </a: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bjective</a:t>
            </a:r>
            <a:endParaRPr lang="en-US" sz="1200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321649"/>
            <a:ext cx="80862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TW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Support consistent initial banking-enquiry handling by classifying English queries into 77 service intents, providing text and voice interaction, and comparing 2 intent-prediction approaches.</a:t>
            </a:r>
            <a:endParaRPr lang="en-US" sz="12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3253404"/>
            <a:ext cx="3383280" cy="1901952"/>
          </a:xfrm>
          <a:prstGeom prst="rect">
            <a:avLst/>
          </a:prstGeom>
          <a:solidFill>
            <a:srgbClr val="FBF1F1"/>
          </a:solidFill>
          <a:ln w="8890">
            <a:solidFill>
              <a:srgbClr val="FB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3997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01  </a:t>
            </a:r>
            <a:r>
              <a:rPr lang="en-US" altLang="zh-TW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C</a:t>
            </a: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lassify</a:t>
            </a:r>
            <a:endParaRPr lang="en-US" sz="12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37746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Fine-tuned DistilBERT</a:t>
            </a:r>
            <a:endParaRPr lang="en-US" sz="14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408318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Predict intent from a trained</a:t>
            </a:r>
            <a:endParaRPr lang="en-US" sz="1200" dirty="0">
              <a:latin typeface="+mj-lt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77-class classifier.</a:t>
            </a:r>
            <a:endParaRPr lang="en-US" sz="12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488103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Ranked intent scores</a:t>
            </a:r>
            <a:endParaRPr lang="en-US" sz="1150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0" y="3253404"/>
            <a:ext cx="3383280" cy="1901952"/>
          </a:xfrm>
          <a:prstGeom prst="rect">
            <a:avLst/>
          </a:prstGeom>
          <a:solidFill>
            <a:srgbClr val="FBF1F1"/>
          </a:solidFill>
          <a:ln w="8890">
            <a:solidFill>
              <a:srgbClr val="FB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33997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02  </a:t>
            </a:r>
            <a:r>
              <a:rPr lang="en-US" altLang="zh-TW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R</a:t>
            </a: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etrieve &amp; </a:t>
            </a:r>
            <a:r>
              <a:rPr lang="en-US" altLang="zh-TW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V</a:t>
            </a: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ote</a:t>
            </a:r>
            <a:endParaRPr lang="en-US" sz="1200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0" y="37746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Pretrained MiniLM</a:t>
            </a:r>
            <a:endParaRPr lang="en-US" sz="1400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0" y="408318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Find five nearest enquiries;</a:t>
            </a:r>
            <a:endParaRPr lang="en-US" sz="1200" dirty="0">
              <a:latin typeface="+mj-lt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use their labels to predict intent.</a:t>
            </a:r>
            <a:endParaRPr lang="en-US" sz="1200" dirty="0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0" y="488103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Similarity + intent vote</a:t>
            </a:r>
            <a:endParaRPr lang="en-US" sz="1150" dirty="0">
              <a:latin typeface="+mj-lt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92440" y="3253404"/>
            <a:ext cx="3383280" cy="1901952"/>
          </a:xfrm>
          <a:prstGeom prst="rect">
            <a:avLst/>
          </a:prstGeom>
          <a:solidFill>
            <a:srgbClr val="FBF1F1"/>
          </a:solidFill>
          <a:ln w="8890">
            <a:solidFill>
              <a:srgbClr val="FB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75320" y="33997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03  </a:t>
            </a:r>
            <a:r>
              <a:rPr lang="en-US" altLang="zh-TW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S</a:t>
            </a: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peak</a:t>
            </a:r>
            <a:endParaRPr lang="en-US" sz="1200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75320" y="37746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Pretrained Whisper Tiny</a:t>
            </a:r>
            <a:endParaRPr lang="en-US" sz="1400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75320" y="408318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Transcribe browser-recorded</a:t>
            </a:r>
            <a:endParaRPr lang="en-US" sz="1200" dirty="0">
              <a:latin typeface="+mj-lt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speech, then run DistilBERT.</a:t>
            </a:r>
            <a:endParaRPr lang="en-US" sz="1200" dirty="0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75320" y="488103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Voice-to-intent extension</a:t>
            </a:r>
            <a:endParaRPr lang="en-US" sz="1150" dirty="0">
              <a:latin typeface="+mj-lt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5800" y="5852160"/>
            <a:ext cx="10789920" cy="438912"/>
          </a:xfrm>
          <a:prstGeom prst="rect">
            <a:avLst/>
          </a:prstGeom>
          <a:solidFill>
            <a:srgbClr val="FBF1F1"/>
          </a:solidFill>
          <a:ln w="8890">
            <a:solidFill>
              <a:srgbClr val="FB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6968" y="5925312"/>
            <a:ext cx="1038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Scope: intent triage and review support, not actual bank-service routing</a:t>
            </a:r>
            <a:endParaRPr lang="en-US" sz="1400" dirty="0">
              <a:latin typeface="+mj-lt"/>
            </a:endParaRPr>
          </a:p>
        </p:txBody>
      </p:sp>
      <p:pic>
        <p:nvPicPr>
          <p:cNvPr id="26" name="Picture 25" descr="HSBC Logo, symbol, meaning, history, PNG, brand">
            <a:extLst>
              <a:ext uri="{FF2B5EF4-FFF2-40B4-BE49-F238E27FC236}">
                <a16:creationId xmlns:a16="http://schemas.microsoft.com/office/drawing/2014/main" id="{44CB0356-09AB-3F7B-330E-BAB1B3EE2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1129" y="0"/>
            <a:ext cx="1237742" cy="696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365760" cy="32004"/>
          </a:xfrm>
          <a:prstGeom prst="rect">
            <a:avLst/>
          </a:prstGeom>
          <a:solidFill>
            <a:srgbClr val="B74C56"/>
          </a:solidFill>
          <a:ln w="8890">
            <a:solidFill>
              <a:srgbClr val="B74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07008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Application Workflow</a:t>
            </a:r>
            <a:endParaRPr lang="en-US" sz="12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789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Two text-based intent pipelines</a:t>
            </a:r>
            <a:endParaRPr lang="en-US" sz="3000" dirty="0">
              <a:latin typeface="+mj-lt"/>
            </a:endParaRPr>
          </a:p>
          <a:p>
            <a:pPr marL="0" indent="0" algn="l">
              <a:buNone/>
            </a:pPr>
            <a:r>
              <a:rPr lang="en-US" sz="30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Voice input feeds the </a:t>
            </a:r>
            <a:r>
              <a:rPr lang="en-US" sz="3000" b="1" dirty="0" err="1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DistilBERT</a:t>
            </a:r>
            <a:r>
              <a:rPr lang="en-US" sz="30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 route</a:t>
            </a:r>
            <a:endParaRPr lang="en-US" sz="30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64648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Group 02 · ISOM5240</a:t>
            </a:r>
            <a:endParaRPr lang="en-US" sz="10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91672" y="643737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04</a:t>
            </a:r>
            <a:endParaRPr lang="en-US" sz="11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Input</a:t>
            </a:r>
            <a:endParaRPr lang="en-US" sz="1200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63440" y="2240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Prediction </a:t>
            </a:r>
            <a:r>
              <a:rPr lang="en-US" altLang="zh-TW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M</a:t>
            </a: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ethod</a:t>
            </a:r>
            <a:endParaRPr lang="en-US" sz="12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0" y="22402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18745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2983887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Typed enquiry</a:t>
            </a:r>
            <a:endParaRPr lang="en-US" sz="1400" dirty="0">
              <a:latin typeface="+mj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" y="4078224"/>
            <a:ext cx="1874520" cy="941832"/>
          </a:xfrm>
          <a:prstGeom prst="rect">
            <a:avLst/>
          </a:prstGeom>
          <a:solidFill>
            <a:srgbClr val="FBF1F1"/>
          </a:solidFill>
          <a:ln w="8890">
            <a:solidFill>
              <a:srgbClr val="FB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392" y="4187952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Recorded speech</a:t>
            </a:r>
            <a:endParaRPr lang="en-US" sz="140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7404" y="4472037"/>
            <a:ext cx="1815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Whisper Tiny</a:t>
            </a:r>
            <a:r>
              <a:rPr lang="zh-TW" alt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→ transcript</a:t>
            </a:r>
            <a:endParaRPr lang="en-US" sz="1200" dirty="0">
              <a:latin typeface="+mj-l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971800" y="2770632"/>
            <a:ext cx="1325880" cy="704088"/>
          </a:xfrm>
          <a:prstGeom prst="rect">
            <a:avLst/>
          </a:prstGeom>
          <a:solidFill>
            <a:srgbClr val="F7F5F5"/>
          </a:solidFill>
          <a:ln w="889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08960" y="294157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Query text</a:t>
            </a:r>
            <a:endParaRPr lang="en-US" sz="1400" dirty="0">
              <a:latin typeface="+mj-lt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60320" y="3127248"/>
            <a:ext cx="411480" cy="1"/>
          </a:xfrm>
          <a:prstGeom prst="line">
            <a:avLst/>
          </a:prstGeom>
          <a:noFill/>
          <a:ln w="12700">
            <a:solidFill>
              <a:srgbClr val="B9B2B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3703320" cy="1078992"/>
          </a:xfrm>
          <a:prstGeom prst="rect">
            <a:avLst/>
          </a:prstGeom>
          <a:solidFill>
            <a:srgbClr val="FBF1F1"/>
          </a:solidFill>
          <a:ln w="8890">
            <a:solidFill>
              <a:srgbClr val="FB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81635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A  Fine-tuned classifier</a:t>
            </a:r>
            <a:endParaRPr lang="en-US" sz="1100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46320" y="3057507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DistilBERT</a:t>
            </a:r>
            <a:endParaRPr lang="en-US" sz="1400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3395061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77-class sequence classification</a:t>
            </a:r>
            <a:endParaRPr lang="en-US" sz="1200" dirty="0">
              <a:latin typeface="+mj-l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63440" y="4206240"/>
            <a:ext cx="3703320" cy="1170432"/>
          </a:xfrm>
          <a:prstGeom prst="rect">
            <a:avLst/>
          </a:prstGeom>
          <a:solidFill>
            <a:srgbClr val="FBF1F1"/>
          </a:solidFill>
          <a:ln w="8890">
            <a:solidFill>
              <a:srgbClr val="FB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432511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B  </a:t>
            </a:r>
            <a:r>
              <a:rPr lang="en-US" sz="1100" b="1" dirty="0" err="1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Pretrained</a:t>
            </a:r>
            <a:r>
              <a:rPr lang="en-US" sz="11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 retrieval</a:t>
            </a:r>
            <a:endParaRPr lang="en-US" sz="1100" dirty="0">
              <a:latin typeface="+mj-l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4575411"/>
            <a:ext cx="3337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MiniLM + five-neighbour vote</a:t>
            </a:r>
            <a:endParaRPr lang="en-US" sz="1400" dirty="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0" y="4949541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Cosine similarity; mean similarity breaks ties</a:t>
            </a:r>
            <a:endParaRPr lang="en-US" sz="1200" dirty="0">
              <a:latin typeface="+mj-l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297680" y="3127248"/>
            <a:ext cx="182880" cy="1"/>
          </a:xfrm>
          <a:prstGeom prst="line">
            <a:avLst/>
          </a:prstGeom>
          <a:noFill/>
          <a:ln w="12700">
            <a:solidFill>
              <a:srgbClr val="B74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0" y="3127248"/>
            <a:ext cx="1" cy="1664208"/>
          </a:xfrm>
          <a:prstGeom prst="line">
            <a:avLst/>
          </a:prstGeom>
          <a:noFill/>
          <a:ln w="12700">
            <a:solidFill>
              <a:srgbClr val="B74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80560" y="3236976"/>
            <a:ext cx="182880" cy="1"/>
          </a:xfrm>
          <a:prstGeom prst="line">
            <a:avLst/>
          </a:prstGeom>
          <a:noFill/>
          <a:ln w="12700">
            <a:solidFill>
              <a:srgbClr val="B74C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80560" y="4791456"/>
            <a:ext cx="182880" cy="1"/>
          </a:xfrm>
          <a:prstGeom prst="line">
            <a:avLst/>
          </a:prstGeom>
          <a:noFill/>
          <a:ln w="12700">
            <a:solidFill>
              <a:srgbClr val="B74C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60320" y="4553712"/>
            <a:ext cx="210312" cy="1"/>
          </a:xfrm>
          <a:prstGeom prst="line">
            <a:avLst/>
          </a:prstGeom>
          <a:noFill/>
          <a:ln w="12700">
            <a:solidFill>
              <a:srgbClr val="B9B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flipV="1">
            <a:off x="2770632" y="3959352"/>
            <a:ext cx="1" cy="594360"/>
          </a:xfrm>
          <a:prstGeom prst="line">
            <a:avLst/>
          </a:prstGeom>
          <a:noFill/>
          <a:ln w="12700">
            <a:solidFill>
              <a:srgbClr val="B9B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70632" y="3959352"/>
            <a:ext cx="1664208" cy="1"/>
          </a:xfrm>
          <a:prstGeom prst="line">
            <a:avLst/>
          </a:prstGeom>
          <a:noFill/>
          <a:ln w="12700">
            <a:solidFill>
              <a:srgbClr val="B9B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flipV="1">
            <a:off x="4434840" y="3602736"/>
            <a:ext cx="1" cy="356616"/>
          </a:xfrm>
          <a:prstGeom prst="line">
            <a:avLst/>
          </a:prstGeom>
          <a:noFill/>
          <a:ln w="12700">
            <a:solidFill>
              <a:srgbClr val="B9B2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34840" y="3602736"/>
            <a:ext cx="228600" cy="1"/>
          </a:xfrm>
          <a:prstGeom prst="line">
            <a:avLst/>
          </a:prstGeom>
          <a:noFill/>
          <a:ln w="12700">
            <a:solidFill>
              <a:srgbClr val="B9B2B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144000" y="2697480"/>
            <a:ext cx="233172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308592" y="2916936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Ranked intents</a:t>
            </a:r>
            <a:endParaRPr lang="en-US" sz="1400" dirty="0">
              <a:latin typeface="+mj-lt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308592" y="328114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Model probabilities</a:t>
            </a:r>
            <a:endParaRPr lang="en-US" sz="1200" dirty="0">
              <a:latin typeface="+mj-lt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144000" y="4206240"/>
            <a:ext cx="2331720" cy="1170432"/>
          </a:xfrm>
          <a:prstGeom prst="rect">
            <a:avLst/>
          </a:prstGeom>
          <a:solidFill>
            <a:srgbClr val="FFFFFF"/>
          </a:solidFill>
          <a:ln w="889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308592" y="4398264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Voted intent</a:t>
            </a:r>
            <a:endParaRPr lang="en-US" sz="1400" dirty="0">
              <a:latin typeface="+mj-lt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308592" y="4744188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Reference examples</a:t>
            </a:r>
            <a:endParaRPr lang="en-US" sz="1200" dirty="0">
              <a:latin typeface="+mj-lt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+ similarity scores</a:t>
            </a:r>
            <a:endParaRPr lang="en-US" sz="1200" dirty="0">
              <a:latin typeface="+mj-lt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366760" y="3236976"/>
            <a:ext cx="777240" cy="1"/>
          </a:xfrm>
          <a:prstGeom prst="line">
            <a:avLst/>
          </a:prstGeom>
          <a:noFill/>
          <a:ln w="12700">
            <a:solidFill>
              <a:srgbClr val="B74C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366760" y="4791456"/>
            <a:ext cx="777240" cy="1"/>
          </a:xfrm>
          <a:prstGeom prst="line">
            <a:avLst/>
          </a:prstGeom>
          <a:noFill/>
          <a:ln w="12700">
            <a:solidFill>
              <a:srgbClr val="B74C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5800" y="5541264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Reference index: up to 25 training enquiries per intent; test examples excluded.</a:t>
            </a:r>
            <a:endParaRPr lang="en-US" sz="1100" dirty="0">
              <a:latin typeface="+mj-lt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5800" y="5852160"/>
            <a:ext cx="10789920" cy="438912"/>
          </a:xfrm>
          <a:prstGeom prst="rect">
            <a:avLst/>
          </a:prstGeom>
          <a:solidFill>
            <a:srgbClr val="FBF1F1"/>
          </a:solidFill>
          <a:ln w="8890">
            <a:solidFill>
              <a:srgbClr val="FB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86968" y="5925312"/>
            <a:ext cx="1038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Retrieval predicts an intent; it is not only a reference-display layer</a:t>
            </a:r>
            <a:endParaRPr lang="en-US" sz="1400" dirty="0">
              <a:latin typeface="+mj-lt"/>
            </a:endParaRPr>
          </a:p>
        </p:txBody>
      </p:sp>
      <p:pic>
        <p:nvPicPr>
          <p:cNvPr id="46" name="Picture 45" descr="HSBC Logo, symbol, meaning, history, PNG, brand">
            <a:extLst>
              <a:ext uri="{FF2B5EF4-FFF2-40B4-BE49-F238E27FC236}">
                <a16:creationId xmlns:a16="http://schemas.microsoft.com/office/drawing/2014/main" id="{261F9EED-49AF-2961-68F4-CA30E4DF5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1129" y="0"/>
            <a:ext cx="1237742" cy="6962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365760" cy="32004"/>
          </a:xfrm>
          <a:prstGeom prst="rect">
            <a:avLst/>
          </a:prstGeom>
          <a:solidFill>
            <a:srgbClr val="B74C56"/>
          </a:solidFill>
          <a:ln w="8890">
            <a:solidFill>
              <a:srgbClr val="B74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07008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Data &amp; Models</a:t>
            </a:r>
            <a:endParaRPr lang="en-US" sz="12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789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One public banking dataset supports</a:t>
            </a:r>
            <a:endParaRPr lang="en-US" sz="3000" dirty="0">
              <a:latin typeface="+mj-lt"/>
            </a:endParaRPr>
          </a:p>
          <a:p>
            <a:pPr marL="0" indent="0" algn="l">
              <a:buNone/>
            </a:pPr>
            <a:r>
              <a:rPr lang="en-US" sz="30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classification and retrieval-based prediction</a:t>
            </a:r>
            <a:endParaRPr lang="en-US" sz="30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64648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Group 02 · ISOM5240</a:t>
            </a:r>
            <a:endParaRPr lang="en-US" sz="10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91672" y="643737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05</a:t>
            </a:r>
            <a:endParaRPr lang="en-US" sz="11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10789920" cy="731520"/>
          </a:xfrm>
          <a:prstGeom prst="rect">
            <a:avLst/>
          </a:prstGeom>
          <a:solidFill>
            <a:srgbClr val="FBF1F1"/>
          </a:solidFill>
          <a:ln w="8890">
            <a:solidFill>
              <a:srgbClr val="FB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233172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BANKING77</a:t>
            </a:r>
            <a:endParaRPr lang="en-US" sz="14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6112" y="2734056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English banking enquiries</a:t>
            </a:r>
            <a:endParaRPr lang="en-US" sz="12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98848" y="233172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77 intents</a:t>
            </a:r>
            <a:endParaRPr lang="en-US" sz="14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98848" y="2734056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Single-label classification</a:t>
            </a:r>
            <a:endParaRPr lang="en-US" sz="12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01584" y="233172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13,083 queries</a:t>
            </a:r>
            <a:endParaRPr lang="en-US" sz="14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01584" y="2734056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Official: 10,003 train / 3,080 test</a:t>
            </a:r>
            <a:endParaRPr lang="en-US" sz="1200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3227832"/>
            <a:ext cx="10789920" cy="365760"/>
          </a:xfrm>
          <a:prstGeom prst="rect">
            <a:avLst/>
          </a:prstGeom>
          <a:solidFill>
            <a:srgbClr val="FBF1F1"/>
          </a:solidFill>
          <a:ln w="8890">
            <a:solidFill>
              <a:srgbClr val="FB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32841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Component</a:t>
            </a:r>
            <a:endParaRPr lang="en-US" sz="1200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37560" y="3328416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897880" y="3328416"/>
            <a:ext cx="25328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Project training</a:t>
            </a:r>
            <a:endParaRPr lang="en-US" sz="1200" dirty="0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13648" y="3328416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36758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Intent classifier</a:t>
            </a:r>
            <a:endParaRPr lang="en-US" sz="1200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37560" y="36758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DistilBERT</a:t>
            </a:r>
            <a:endParaRPr lang="en-US" sz="1200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97880" y="3675888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Fine-tuned: 3 epochs</a:t>
            </a:r>
            <a:endParaRPr lang="en-US" sz="1200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13648" y="3675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Intent + probability</a:t>
            </a:r>
            <a:endParaRPr lang="en-US" sz="1200" dirty="0">
              <a:latin typeface="+mj-lt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5800" y="4087368"/>
            <a:ext cx="10789920" cy="1"/>
          </a:xfrm>
          <a:prstGeom prst="line">
            <a:avLst/>
          </a:prstGeom>
          <a:noFill/>
          <a:ln w="1270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41879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Retrieval predictor</a:t>
            </a:r>
            <a:endParaRPr lang="en-US" sz="1200" dirty="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337560" y="41879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all-MiniLM-L6-v2</a:t>
            </a:r>
            <a:endParaRPr lang="en-US" sz="1200" dirty="0">
              <a:latin typeface="+mj-lt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97880" y="4187952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Pretrained; not fine-tuned</a:t>
            </a:r>
            <a:endParaRPr lang="en-US" sz="1200" dirty="0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613648" y="4187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Voted intent + examples</a:t>
            </a:r>
            <a:endParaRPr lang="en-US" sz="1200" dirty="0">
              <a:latin typeface="+mj-lt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85800" y="4599432"/>
            <a:ext cx="10789920" cy="1"/>
          </a:xfrm>
          <a:prstGeom prst="line">
            <a:avLst/>
          </a:prstGeom>
          <a:noFill/>
          <a:ln w="1270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8680" y="47000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Speech-to-text</a:t>
            </a:r>
            <a:endParaRPr lang="en-US" sz="1200" dirty="0">
              <a:latin typeface="+mj-lt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37560" y="47000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openai/whisper-tiny</a:t>
            </a:r>
            <a:endParaRPr lang="en-US" sz="1200" dirty="0">
              <a:latin typeface="+mj-lt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97880" y="470001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Pretrained; not fine-tuned</a:t>
            </a:r>
            <a:endParaRPr lang="en-US" sz="1200" dirty="0">
              <a:latin typeface="+mj-lt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613648" y="47000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Transcript → DistilBERT</a:t>
            </a:r>
            <a:endParaRPr lang="en-US" sz="1200" dirty="0">
              <a:latin typeface="+mj-lt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85800" y="5111496"/>
            <a:ext cx="10789920" cy="1"/>
          </a:xfrm>
          <a:prstGeom prst="line">
            <a:avLst/>
          </a:prstGeom>
          <a:noFill/>
          <a:ln w="1270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" y="5358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Project Split</a:t>
            </a:r>
            <a:endParaRPr lang="en-US" sz="1100" dirty="0">
              <a:latin typeface="+mj-lt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286000" y="5349240"/>
            <a:ext cx="9189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Train: 9,002  ·  Validation: 1,001  ·  Test: 3,080  |  Stratified split; seed 42</a:t>
            </a:r>
            <a:endParaRPr lang="en-US" sz="1200" dirty="0">
              <a:latin typeface="+mj-lt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" y="566013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Retrieval index: up to 25 training examples per intent (up to 1,925); no test messages.</a:t>
            </a:r>
            <a:endParaRPr lang="en-US" sz="1100" dirty="0">
              <a:latin typeface="+mj-lt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85800" y="5989320"/>
            <a:ext cx="10789920" cy="438912"/>
          </a:xfrm>
          <a:prstGeom prst="rect">
            <a:avLst/>
          </a:prstGeom>
          <a:solidFill>
            <a:srgbClr val="FBF1F1"/>
          </a:solidFill>
          <a:ln w="8890">
            <a:solidFill>
              <a:srgbClr val="FB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86968" y="6062472"/>
            <a:ext cx="1038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Public Banking77 reference enquiries, not HSBC customer records</a:t>
            </a:r>
            <a:endParaRPr lang="en-US" sz="1400" dirty="0">
              <a:latin typeface="+mj-lt"/>
            </a:endParaRPr>
          </a:p>
        </p:txBody>
      </p:sp>
      <p:pic>
        <p:nvPicPr>
          <p:cNvPr id="39" name="Picture 38" descr="HSBC Logo, symbol, meaning, history, PNG, brand">
            <a:extLst>
              <a:ext uri="{FF2B5EF4-FFF2-40B4-BE49-F238E27FC236}">
                <a16:creationId xmlns:a16="http://schemas.microsoft.com/office/drawing/2014/main" id="{7F10818D-8D0D-7386-1E75-2C4E77065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1129" y="0"/>
            <a:ext cx="1237742" cy="6962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365760" cy="32004"/>
          </a:xfrm>
          <a:prstGeom prst="rect">
            <a:avLst/>
          </a:prstGeom>
          <a:solidFill>
            <a:srgbClr val="B74C56"/>
          </a:solidFill>
          <a:ln w="8890">
            <a:solidFill>
              <a:srgbClr val="B74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07008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Experiments &amp; Results</a:t>
            </a:r>
            <a:endParaRPr lang="en-US" sz="12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789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Retrieval leads the reported benchmark;</a:t>
            </a:r>
            <a:endParaRPr lang="en-US" sz="3000" dirty="0">
              <a:latin typeface="+mj-lt"/>
            </a:endParaRPr>
          </a:p>
          <a:p>
            <a:pPr marL="0" indent="0" algn="l">
              <a:buNone/>
            </a:pPr>
            <a:r>
              <a:rPr lang="en-US" sz="30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both approaches remain in the App</a:t>
            </a:r>
            <a:endParaRPr lang="en-US" sz="30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64648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Group 02 · ISOM5240</a:t>
            </a:r>
            <a:endParaRPr lang="en-US" sz="10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91672" y="643737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06</a:t>
            </a:r>
            <a:endParaRPr lang="en-US" sz="11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Common Test Set</a:t>
            </a:r>
            <a:endParaRPr lang="en-US" sz="1150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505456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All 3,080 official test enquiries · Two text-based intent-prediction methods</a:t>
            </a:r>
            <a:endParaRPr lang="en-US" sz="14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2944368"/>
            <a:ext cx="7132320" cy="475488"/>
          </a:xfrm>
          <a:prstGeom prst="rect">
            <a:avLst/>
          </a:prstGeom>
          <a:solidFill>
            <a:srgbClr val="FBF1F1"/>
          </a:solidFill>
          <a:ln w="8890">
            <a:solidFill>
              <a:srgbClr val="FB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30998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Method</a:t>
            </a:r>
            <a:endParaRPr lang="en-US" sz="105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20440" y="309981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Accuracy</a:t>
            </a:r>
            <a:endParaRPr lang="en-US" sz="105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00600" y="30998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Test total</a:t>
            </a:r>
            <a:endParaRPr lang="en-US" sz="105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09360" y="309981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Per message</a:t>
            </a:r>
            <a:endParaRPr lang="en-US" sz="105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9536" y="35204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Fine-tuned</a:t>
            </a:r>
            <a:endParaRPr lang="en-US" sz="1200" dirty="0">
              <a:latin typeface="+mj-lt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DistilBERT</a:t>
            </a:r>
            <a:endParaRPr lang="en-US" sz="120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20440" y="3520440"/>
            <a:ext cx="1078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83.18%</a:t>
            </a:r>
            <a:endParaRPr lang="en-US" sz="2000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3520440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3.278 s</a:t>
            </a:r>
            <a:endParaRPr lang="en-US" sz="1200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09360" y="3520440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1.064 ms</a:t>
            </a:r>
            <a:endParaRPr lang="en-US" sz="1200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800" y="4206240"/>
            <a:ext cx="7132320" cy="1"/>
          </a:xfrm>
          <a:prstGeom prst="line">
            <a:avLst/>
          </a:prstGeom>
          <a:noFill/>
          <a:ln w="1270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4288536"/>
            <a:ext cx="7132320" cy="768096"/>
          </a:xfrm>
          <a:prstGeom prst="rect">
            <a:avLst/>
          </a:prstGeom>
          <a:solidFill>
            <a:srgbClr val="FBF1F1"/>
          </a:solidFill>
          <a:ln w="8890">
            <a:solidFill>
              <a:srgbClr val="FB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9536" y="432511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Pretrained</a:t>
            </a:r>
            <a:endParaRPr lang="en-US" sz="1200" dirty="0">
              <a:latin typeface="+mj-lt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MiniLM retrieval</a:t>
            </a:r>
            <a:endParaRPr lang="en-US" sz="1200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20440" y="4325112"/>
            <a:ext cx="1078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87.18%</a:t>
            </a:r>
            <a:endParaRPr lang="en-US" sz="2000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00600" y="4325112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1.708 s</a:t>
            </a:r>
            <a:endParaRPr lang="en-US" sz="1200" dirty="0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09360" y="4325112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0.554 ms</a:t>
            </a:r>
            <a:endParaRPr lang="en-US" sz="1200" dirty="0">
              <a:latin typeface="+mj-lt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5800" y="5010912"/>
            <a:ext cx="7132320" cy="1"/>
          </a:xfrm>
          <a:prstGeom prst="line">
            <a:avLst/>
          </a:prstGeom>
          <a:noFill/>
          <a:ln w="1270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532180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Setup / Index Time</a:t>
            </a:r>
            <a:endParaRPr lang="en-US" sz="1100" dirty="0">
              <a:latin typeface="+mj-lt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5800" y="559612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DistilBERT: 0.189 s  ·  MiniLM retrieval: 2.102 s</a:t>
            </a:r>
            <a:endParaRPr lang="en-US" sz="1200" dirty="0">
              <a:latin typeface="+mj-lt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092440" y="2944368"/>
            <a:ext cx="1" cy="2715768"/>
          </a:xfrm>
          <a:prstGeom prst="line">
            <a:avLst/>
          </a:prstGeom>
          <a:noFill/>
          <a:ln w="1270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39328" y="2962656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What The Results Show</a:t>
            </a:r>
            <a:endParaRPr lang="en-US" sz="1200" dirty="0">
              <a:latin typeface="+mj-l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39328" y="3392424"/>
            <a:ext cx="3136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87.18%</a:t>
            </a:r>
            <a:endParaRPr lang="en-US" sz="2400" dirty="0">
              <a:latin typeface="+mj-lt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339328" y="3931920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Retrieval test accuracy</a:t>
            </a:r>
            <a:endParaRPr lang="en-US" sz="1400" dirty="0">
              <a:latin typeface="+mj-lt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39328" y="4343400"/>
            <a:ext cx="31363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Higher accuracy and lower</a:t>
            </a:r>
            <a:endParaRPr lang="en-US" sz="1200" dirty="0">
              <a:latin typeface="+mj-lt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reported per-message time.</a:t>
            </a:r>
            <a:endParaRPr lang="en-US" sz="1200" dirty="0">
              <a:latin typeface="+mj-lt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39328" y="5065776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Trade-off: one-time</a:t>
            </a:r>
            <a:endParaRPr lang="en-US" sz="1200" dirty="0">
              <a:latin typeface="+mj-lt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reference-index setup.</a:t>
            </a:r>
            <a:endParaRPr lang="en-US" sz="1200" dirty="0">
              <a:latin typeface="+mj-lt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5800" y="598017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Reported benchmark averages, not measured interactive App latency. Voice accuracy was not tested separately.</a:t>
            </a:r>
            <a:endParaRPr lang="en-US" sz="1050" dirty="0">
              <a:latin typeface="+mj-lt"/>
            </a:endParaRPr>
          </a:p>
        </p:txBody>
      </p:sp>
      <p:pic>
        <p:nvPicPr>
          <p:cNvPr id="34" name="Picture 33" descr="HSBC Logo, symbol, meaning, history, PNG, brand">
            <a:extLst>
              <a:ext uri="{FF2B5EF4-FFF2-40B4-BE49-F238E27FC236}">
                <a16:creationId xmlns:a16="http://schemas.microsoft.com/office/drawing/2014/main" id="{F4D21DBB-94EC-3F48-A24D-11481B7ED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1129" y="0"/>
            <a:ext cx="1237742" cy="6962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365760" cy="32004"/>
          </a:xfrm>
          <a:prstGeom prst="rect">
            <a:avLst/>
          </a:prstGeom>
          <a:solidFill>
            <a:srgbClr val="B74C56"/>
          </a:solidFill>
          <a:ln w="8890">
            <a:solidFill>
              <a:srgbClr val="B74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07008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Streamlit Deployment &amp; Demo</a:t>
            </a:r>
            <a:endParaRPr lang="en-US" sz="12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789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Three deployed modes expose predictions,</a:t>
            </a:r>
            <a:endParaRPr lang="en-US" sz="3000" dirty="0">
              <a:latin typeface="+mj-lt"/>
            </a:endParaRPr>
          </a:p>
          <a:p>
            <a:pPr marL="0" indent="0" algn="l">
              <a:buNone/>
            </a:pPr>
            <a:r>
              <a:rPr lang="en-US" sz="30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reference retrieval and voice transcription</a:t>
            </a:r>
            <a:endParaRPr lang="en-US" sz="30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64648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Group 02 · ISOM5240</a:t>
            </a:r>
            <a:endParaRPr lang="en-US" sz="10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91672" y="643737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07</a:t>
            </a:r>
            <a:endParaRPr lang="en-US" sz="11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105757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HK" sz="1600" b="1" dirty="0">
                <a:solidFill>
                  <a:srgbClr val="C00000"/>
                </a:solidFill>
              </a:rPr>
              <a:t>Application Interface Screenshots</a:t>
            </a:r>
            <a:endParaRPr lang="en-HK" sz="1600" dirty="0">
              <a:solidFill>
                <a:srgbClr val="C0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55598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01  Classify My Message</a:t>
            </a:r>
            <a:endParaRPr lang="en-US" sz="12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2921742"/>
            <a:ext cx="3383280" cy="2350008"/>
          </a:xfrm>
          <a:prstGeom prst="rect">
            <a:avLst/>
          </a:prstGeom>
          <a:solidFill>
            <a:srgbClr val="FFFFFF"/>
          </a:solidFill>
          <a:ln w="889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mnt/data/revise_work/report_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631" y="2976606"/>
            <a:ext cx="2399617" cy="2240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539976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“I lost my card” → Lost Or Stolen Card</a:t>
            </a:r>
            <a:endParaRPr lang="en-US" sz="1200" dirty="0">
              <a:latin typeface="+mj-lt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" y="565285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Model probability: 0.2070</a:t>
            </a:r>
            <a:endParaRPr lang="en-US" sz="1100" dirty="0">
              <a:latin typeface="+mj-lt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389120" y="255598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02  Find Similar Examples</a:t>
            </a:r>
            <a:endParaRPr lang="en-US" sz="1200" dirty="0">
              <a:latin typeface="+mj-lt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389120" y="2921742"/>
            <a:ext cx="3383280" cy="2350008"/>
          </a:xfrm>
          <a:prstGeom prst="rect">
            <a:avLst/>
          </a:prstGeom>
          <a:solidFill>
            <a:srgbClr val="FFFFFF"/>
          </a:solidFill>
          <a:ln w="889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/mnt/data/revise_work/report_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951" y="2976606"/>
            <a:ext cx="2399617" cy="22402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0" y="539976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“I lost my card” → Lost Or Stolen Card</a:t>
            </a:r>
            <a:endParaRPr lang="en-US" sz="1200" dirty="0">
              <a:latin typeface="+mj-lt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389120" y="565285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Mean neighbour similarity: 0.8382</a:t>
            </a:r>
            <a:endParaRPr lang="en-US" sz="1100" dirty="0">
              <a:latin typeface="+mj-lt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092440" y="255598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03  Speak My Message</a:t>
            </a:r>
            <a:endParaRPr lang="en-US" sz="1200" dirty="0">
              <a:latin typeface="+mj-lt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8092440" y="2921742"/>
            <a:ext cx="3383280" cy="2350008"/>
          </a:xfrm>
          <a:prstGeom prst="rect">
            <a:avLst/>
          </a:prstGeom>
          <a:solidFill>
            <a:srgbClr val="FFFFFF"/>
          </a:solidFill>
          <a:ln w="889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/mnt/data/revise_work/report_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2376" y="2976606"/>
            <a:ext cx="2663408" cy="22402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92440" y="539976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Whisper transcript → DistilBERT</a:t>
            </a:r>
            <a:endParaRPr lang="en-US" sz="1200" dirty="0">
              <a:latin typeface="+mj-lt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8092440" y="565285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Voice accuracy not measured separately</a:t>
            </a:r>
            <a:endParaRPr lang="en-US" sz="1100" dirty="0">
              <a:latin typeface="+mj-lt"/>
            </a:endParaRPr>
          </a:p>
        </p:txBody>
      </p:sp>
      <p:pic>
        <p:nvPicPr>
          <p:cNvPr id="24" name="Picture 23" descr="HSBC Logo, symbol, meaning, history, PNG, brand">
            <a:extLst>
              <a:ext uri="{FF2B5EF4-FFF2-40B4-BE49-F238E27FC236}">
                <a16:creationId xmlns:a16="http://schemas.microsoft.com/office/drawing/2014/main" id="{23421D96-6AAF-811E-9ABE-C2B16E7215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1129" y="0"/>
            <a:ext cx="1237742" cy="696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365760" cy="32004"/>
          </a:xfrm>
          <a:prstGeom prst="rect">
            <a:avLst/>
          </a:prstGeom>
          <a:solidFill>
            <a:srgbClr val="B74C56"/>
          </a:solidFill>
          <a:ln w="8890">
            <a:solidFill>
              <a:srgbClr val="B74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07008" y="502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Conclusion &amp; Business Value</a:t>
            </a:r>
            <a:endParaRPr lang="en-US" sz="12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789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From customer language</a:t>
            </a:r>
            <a:endParaRPr lang="en-US" sz="3000" dirty="0">
              <a:latin typeface="+mj-lt"/>
            </a:endParaRPr>
          </a:p>
          <a:p>
            <a:pPr marL="0" indent="0" algn="l">
              <a:buNone/>
            </a:pPr>
            <a:r>
              <a:rPr lang="en-US" sz="30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to structured banking-enquiry information</a:t>
            </a:r>
            <a:endParaRPr lang="en-US" sz="30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64648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Group 02 · ISOM5240</a:t>
            </a:r>
            <a:endParaRPr lang="en-US" sz="10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91672" y="643737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08</a:t>
            </a:r>
            <a:endParaRPr lang="en-US" sz="11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What We Deliver</a:t>
            </a:r>
            <a:endParaRPr lang="en-US" sz="1200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0" y="237744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89320" y="2377440"/>
            <a:ext cx="1" cy="2788920"/>
          </a:xfrm>
          <a:prstGeom prst="line">
            <a:avLst/>
          </a:prstGeom>
          <a:noFill/>
          <a:ln w="12700">
            <a:solidFill>
              <a:srgbClr val="E9D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77264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01</a:t>
            </a:r>
            <a:endParaRPr lang="en-US" sz="15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07008" y="2772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Two intent-prediction methods</a:t>
            </a:r>
            <a:endParaRPr lang="en-US" sz="16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07008" y="3143988"/>
            <a:ext cx="4480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Fine-tuned classifier + retrieval voting</a:t>
            </a:r>
            <a:endParaRPr lang="en-US" sz="12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277264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Evidence-led model choice</a:t>
            </a:r>
            <a:endParaRPr lang="en-US" sz="160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0" y="3049605"/>
            <a:ext cx="5074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Compare alternatives rather than assume</a:t>
            </a:r>
            <a:endParaRPr lang="en-US" sz="1200" dirty="0">
              <a:latin typeface="+mj-lt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fine-tuning must perform best.</a:t>
            </a:r>
            <a:endParaRPr lang="en-US" sz="120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3632184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02</a:t>
            </a:r>
            <a:endParaRPr lang="en-US" sz="1500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07008" y="36321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Voice-to-intent extension</a:t>
            </a:r>
            <a:endParaRPr lang="en-US" sz="1600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07008" y="4003524"/>
            <a:ext cx="4480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Whisper transcript → DistilBERT</a:t>
            </a:r>
            <a:endParaRPr lang="en-US" sz="1200" dirty="0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363218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Flexible enquiry input</a:t>
            </a:r>
            <a:endParaRPr lang="en-US" sz="1600" dirty="0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0" y="3909141"/>
            <a:ext cx="5074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Provide speech input alongside typed</a:t>
            </a:r>
            <a:endParaRPr lang="en-US" sz="1200" dirty="0">
              <a:latin typeface="+mj-lt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messages in a public prototype.</a:t>
            </a:r>
            <a:endParaRPr lang="en-US" sz="1200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5800" y="449172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03</a:t>
            </a:r>
            <a:endParaRPr lang="en-US" sz="1500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07008" y="44917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Reference-based inspection</a:t>
            </a:r>
            <a:endParaRPr lang="en-US" sz="1600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07008" y="4863060"/>
            <a:ext cx="4480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Similar enquiries + similarity scores</a:t>
            </a:r>
            <a:endParaRPr lang="en-US" sz="1200" dirty="0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4533877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Structured enquiry review</a:t>
            </a:r>
            <a:endParaRPr lang="en-US" sz="1600" dirty="0">
              <a:latin typeface="+mj-l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0" y="4722183"/>
            <a:ext cx="5074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Present intent predictions and related</a:t>
            </a:r>
            <a:endParaRPr lang="en-US" sz="1200" dirty="0">
              <a:latin typeface="+mj-lt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797478"/>
                </a:solidFill>
                <a:latin typeface="+mj-lt"/>
                <a:ea typeface="Arial" pitchFamily="34" charset="-122"/>
                <a:cs typeface="Arial" pitchFamily="34" charset="-120"/>
              </a:rPr>
              <a:t>wording for user inspection.</a:t>
            </a:r>
            <a:endParaRPr lang="en-US" sz="1200" dirty="0">
              <a:latin typeface="+mj-lt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85800" y="5577840"/>
            <a:ext cx="10789920" cy="731520"/>
          </a:xfrm>
          <a:prstGeom prst="rect">
            <a:avLst/>
          </a:prstGeom>
          <a:solidFill>
            <a:srgbClr val="FBF1F1"/>
          </a:solidFill>
          <a:ln w="8890">
            <a:solidFill>
              <a:srgbClr val="FB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86968" y="5715774"/>
            <a:ext cx="10387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74C56"/>
                </a:solidFill>
                <a:latin typeface="+mj-lt"/>
                <a:ea typeface="Arial" pitchFamily="34" charset="-122"/>
                <a:cs typeface="Arial" pitchFamily="34" charset="-120"/>
              </a:rPr>
              <a:t>Business Takeaway</a:t>
            </a:r>
            <a:endParaRPr lang="en-US" sz="1400" dirty="0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86968" y="5907024"/>
            <a:ext cx="10387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02C30"/>
                </a:solidFill>
                <a:latin typeface="+mj-lt"/>
                <a:ea typeface="Arial" pitchFamily="34" charset="-122"/>
                <a:cs typeface="Arial" pitchFamily="34" charset="-120"/>
              </a:rPr>
              <a:t>Choose the approach supported by evidence; use the prototype to structure enquiries for review, not to claim production readiness</a:t>
            </a:r>
            <a:endParaRPr lang="en-US" sz="1400" dirty="0">
              <a:latin typeface="+mj-lt"/>
            </a:endParaRPr>
          </a:p>
        </p:txBody>
      </p:sp>
      <p:pic>
        <p:nvPicPr>
          <p:cNvPr id="28" name="Picture 27" descr="HSBC Logo, symbol, meaning, history, PNG, brand">
            <a:extLst>
              <a:ext uri="{FF2B5EF4-FFF2-40B4-BE49-F238E27FC236}">
                <a16:creationId xmlns:a16="http://schemas.microsoft.com/office/drawing/2014/main" id="{5B10DEA6-6A13-CFB3-11A9-A36052D87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1129" y="0"/>
            <a:ext cx="1237742" cy="6962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775</Words>
  <Application>Microsoft Macintosh PowerPoint</Application>
  <PresentationFormat>Widescreen</PresentationFormat>
  <Paragraphs>196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HSBC Banking Query Intent Router - Report Aligned</dc:title>
  <dc:subject>ISOM5240 Group 02</dc:subject>
  <dc:creator>TSAI Chungkai</dc:creator>
  <cp:lastModifiedBy>SHEN Jia</cp:lastModifiedBy>
  <cp:revision>24</cp:revision>
  <dcterms:created xsi:type="dcterms:W3CDTF">2026-10-14T13:09:14Z</dcterms:created>
  <dcterms:modified xsi:type="dcterms:W3CDTF">2026-10-14T14:23:03Z</dcterms:modified>
</cp:coreProperties>
</file>