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-411480"/>
            <a:ext cx="4114800" cy="4114800"/>
          </a:xfrm>
          <a:prstGeom prst="ellipse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3108960"/>
            <a:ext cx="3749039" cy="3749039"/>
          </a:xfrm>
          <a:prstGeom prst="ellipse">
            <a:avLst/>
          </a:prstGeom>
          <a:solidFill>
            <a:srgbClr val="164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2148840"/>
            <a:ext cx="950976" cy="950976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1051560"/>
            <a:ext cx="1143000" cy="1143000"/>
          </a:xfrm>
          <a:prstGeom prst="ellipse">
            <a:avLst/>
          </a:prstGeom>
          <a:solidFill>
            <a:srgbClr val="4BA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35640" y="2331720"/>
            <a:ext cx="676656" cy="676656"/>
          </a:xfrm>
          <a:prstGeom prst="ellipse">
            <a:avLst/>
          </a:prstGeom>
          <a:solidFill>
            <a:srgbClr val="F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81160" y="3767328"/>
            <a:ext cx="1051560" cy="105156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8823960" y="1773936"/>
            <a:ext cx="502920" cy="603504"/>
          </a:xfrm>
          <a:prstGeom prst="line">
            <a:avLst/>
          </a:prstGeom>
          <a:ln w="25400">
            <a:solidFill>
              <a:srgbClr val="6A9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561320" y="1691640"/>
            <a:ext cx="338328" cy="704088"/>
          </a:xfrm>
          <a:prstGeom prst="line">
            <a:avLst/>
          </a:prstGeom>
          <a:ln w="25400">
            <a:solidFill>
              <a:srgbClr val="6A9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076688" y="2971800"/>
            <a:ext cx="740664" cy="886968"/>
          </a:xfrm>
          <a:prstGeom prst="line">
            <a:avLst/>
          </a:prstGeom>
          <a:ln w="25400">
            <a:solidFill>
              <a:srgbClr val="6A9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640080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00B9AA"/>
                </a:solidFill>
                <a:latin typeface="Aptos"/>
              </a:defRPr>
            </a:pPr>
            <a:r>
              <a:t>ISOM5240  /  GROUP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6583680" cy="1554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Banking Query</a:t>
            </a:r>
          </a:p>
          <a:p>
            <a:pPr algn="l">
              <a:spcAft>
                <a:spcPts val="3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Intent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00400"/>
            <a:ext cx="59436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C7D9E8"/>
                </a:solidFill>
                <a:latin typeface="Aptos"/>
              </a:defRPr>
            </a:pPr>
            <a:r>
              <a:t>A practical deep learning application for faster, more consistent support triage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187952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234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270248"/>
            <a:ext cx="175564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HSBC  •  BANKING77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961888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SHEN, Jia  |  21158135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272784"/>
            <a:ext cx="42062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97A9BB"/>
                </a:solidFill>
                <a:latin typeface="Aptos"/>
              </a:defRPr>
            </a:pPr>
            <a:r>
              <a:t>Target website: hsbc.com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68E73"/>
                </a:solidFill>
                <a:latin typeface="Aptos"/>
              </a:defRPr>
            </a:pPr>
            <a:r>
              <a:t>01  /  BUSINESS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02340"/>
                </a:solidFill>
                <a:latin typeface="Aptos"/>
              </a:defRPr>
            </a:pPr>
            <a:r>
              <a:t>One message. 77 possible service intents.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658368" cy="50292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C7E91"/>
                </a:solidFill>
                <a:latin typeface="Aptos"/>
              </a:defRPr>
            </a:pPr>
            <a:r>
              <a:t>ISOM5240  •  GROUP 02  •  SHEN, Jia (21158135)     |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54864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102340"/>
                </a:solidFill>
                <a:latin typeface="Aptos"/>
              </a:defRPr>
            </a:pPr>
            <a:r>
              <a:t>A support team must quickly understand what a banking customer needs before the query reaches the right service queue.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743200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5093207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243244"/>
                </a:solidFill>
                <a:latin typeface="Aptos"/>
              </a:defRPr>
            </a:pPr>
            <a:r>
              <a:t>Card, payment, transfer, and cash queries are different workflows.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474720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64992"/>
            <a:ext cx="5093207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243244"/>
                </a:solidFill>
                <a:latin typeface="Aptos"/>
              </a:defRPr>
            </a:pPr>
            <a:r>
              <a:t>Manual triage can be repetitive and inconsistent at scale.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206240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96512"/>
            <a:ext cx="5093207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243244"/>
                </a:solidFill>
                <a:latin typeface="Aptos"/>
              </a:defRPr>
            </a:pPr>
            <a:r>
              <a:t>The model proposes a category—not an answer or transaction.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682496"/>
            <a:ext cx="4864608" cy="3584448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947672"/>
            <a:ext cx="42062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C7E91"/>
                </a:solidFill>
                <a:latin typeface="Aptos"/>
              </a:defRPr>
            </a:pPr>
            <a:r>
              <a:t>CUSTOMER MESSAGE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0568" y="2331720"/>
            <a:ext cx="4206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2487168"/>
            <a:ext cx="3730752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243244"/>
                </a:solidFill>
                <a:latin typeface="Aptos"/>
              </a:defRPr>
            </a:pPr>
            <a:r>
              <a:t>“I am still waiting for my bank card to arrive.”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33688" y="3236976"/>
            <a:ext cx="0" cy="420624"/>
          </a:xfrm>
          <a:prstGeom prst="line">
            <a:avLst/>
          </a:prstGeom>
          <a:ln w="25400">
            <a:solidFill>
              <a:srgbClr val="00B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30568" y="3767328"/>
            <a:ext cx="4206240" cy="1024128"/>
          </a:xfrm>
          <a:prstGeom prst="roundRect">
            <a:avLst>
              <a:gd name="adj" fmla="val 8000"/>
            </a:avLst>
          </a:prstGeom>
          <a:solidFill>
            <a:srgbClr val="10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8312" y="3913632"/>
            <a:ext cx="15087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00B9AA"/>
                </a:solidFill>
                <a:latin typeface="Aptos"/>
              </a:defRPr>
            </a:pPr>
            <a:r>
              <a:t>PREDICTED INTENT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4197096"/>
            <a:ext cx="35661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Card arrival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468112"/>
            <a:ext cx="466344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C7E91"/>
                </a:solidFill>
                <a:latin typeface="Aptos"/>
              </a:defRPr>
            </a:pPr>
            <a:r>
              <a:t>Proposed fit: HSBC online support triage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6C7E91"/>
                </a:solidFill>
                <a:latin typeface="Aptos"/>
              </a:defRPr>
            </a:pPr>
            <a:r>
              <a:t>Public benchmark only—not HSBC customer data or an HSBC-approved 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84648"/>
            <a:ext cx="10698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02340"/>
                </a:solidFill>
                <a:latin typeface="Aptos"/>
              </a:defRPr>
            </a:pPr>
            <a:r>
              <a:t>OBJECTIVE  /  Classify English banking queries into service intents and measure accuracy and runtime.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68E73"/>
                </a:solidFill>
                <a:latin typeface="Aptos"/>
              </a:defRPr>
            </a:pPr>
            <a:r>
              <a:t>02  /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02340"/>
                </a:solidFill>
                <a:latin typeface="Aptos"/>
              </a:defRPr>
            </a:pPr>
            <a:r>
              <a:t>A focused benchmark with fine-grained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658368" cy="50292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C7E91"/>
                </a:solidFill>
                <a:latin typeface="Aptos"/>
              </a:defRPr>
            </a:pPr>
            <a:r>
              <a:t>ISOM5240  •  GROUP 02  •  SHEN, Jia (21158135)     |   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423160" cy="1225296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01368"/>
            <a:ext cx="213055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6C7E91"/>
                </a:solidFill>
                <a:latin typeface="Aptos"/>
              </a:defRPr>
            </a:pPr>
            <a:r>
              <a:t>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66544"/>
            <a:ext cx="213055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340"/>
                </a:solidFill>
                <a:latin typeface="Aptos"/>
              </a:defRPr>
            </a:pPr>
            <a:r>
              <a:t>13,083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51176"/>
            <a:ext cx="213055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C7E91"/>
                </a:solidFill>
                <a:latin typeface="Aptos"/>
              </a:defRPr>
            </a:pPr>
            <a:r>
              <a:t>official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91640"/>
            <a:ext cx="2423160" cy="1225296"/>
          </a:xfrm>
          <a:prstGeom prst="roundRect">
            <a:avLst>
              <a:gd name="adj" fmla="val 8000"/>
            </a:avLst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1801368"/>
            <a:ext cx="213055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6C7E91"/>
                </a:solidFill>
                <a:latin typeface="Aptos"/>
              </a:defRPr>
            </a:pPr>
            <a:r>
              <a:t>INTENT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2066544"/>
            <a:ext cx="213055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340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2551176"/>
            <a:ext cx="213055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C7E91"/>
                </a:solidFill>
                <a:latin typeface="Aptos"/>
              </a:defRPr>
            </a:pPr>
            <a:r>
              <a:t>single-label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691640"/>
            <a:ext cx="2423160" cy="1225296"/>
          </a:xfrm>
          <a:prstGeom prst="roundRect">
            <a:avLst>
              <a:gd name="adj" fmla="val 8000"/>
            </a:avLst>
          </a:prstGeom>
          <a:solidFill>
            <a:srgbClr val="FFF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1801368"/>
            <a:ext cx="213055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6C7E91"/>
                </a:solidFill>
                <a:latin typeface="Aptos"/>
              </a:defRPr>
            </a:pPr>
            <a:r>
              <a:t>TEST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2066544"/>
            <a:ext cx="213055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340"/>
                </a:solidFill>
                <a:latin typeface="Aptos"/>
              </a:defRPr>
            </a:pPr>
            <a:r>
              <a:t>3,080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2551176"/>
            <a:ext cx="213055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C7E91"/>
                </a:solidFill>
                <a:latin typeface="Aptos"/>
              </a:defRPr>
            </a:pPr>
            <a:r>
              <a:t>held-out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691640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4504" y="1801368"/>
            <a:ext cx="277063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6C7E91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2066544"/>
            <a:ext cx="2770632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340"/>
                </a:solidFill>
                <a:latin typeface="Aptos"/>
              </a:defRPr>
            </a:pPr>
            <a:r>
              <a:t>1,001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2551176"/>
            <a:ext cx="277063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C7E91"/>
                </a:solidFill>
                <a:latin typeface="Aptos"/>
              </a:defRPr>
            </a:pPr>
            <a:r>
              <a:t>stratified from training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01568"/>
            <a:ext cx="3456432" cy="1581912"/>
          </a:xfrm>
          <a:prstGeom prst="roundRect">
            <a:avLst>
              <a:gd name="adj" fmla="val 8000"/>
            </a:avLst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401568"/>
            <a:ext cx="64008" cy="1581912"/>
          </a:xfrm>
          <a:prstGeom prst="rect">
            <a:avLst/>
          </a:prstGeom>
          <a:solidFill>
            <a:srgbClr val="4BA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557016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922776"/>
            <a:ext cx="309067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English online-banking customer query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Example: “My transfer has not arrived.”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401568"/>
            <a:ext cx="3456432" cy="1581912"/>
          </a:xfrm>
          <a:prstGeom prst="roundRect">
            <a:avLst>
              <a:gd name="adj" fmla="val 8000"/>
            </a:avLst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2" y="3401568"/>
            <a:ext cx="64008" cy="1581912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557016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922776"/>
            <a:ext cx="309067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One of 77 intent labels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Example: transfer_not_received_by_recipient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401568"/>
            <a:ext cx="3456432" cy="1581912"/>
          </a:xfrm>
          <a:prstGeom prst="roundRect">
            <a:avLst>
              <a:gd name="adj" fmla="val 8000"/>
            </a:avLst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401568"/>
            <a:ext cx="64008" cy="1581912"/>
          </a:xfrm>
          <a:prstGeom prst="rect">
            <a:avLst/>
          </a:prstGeom>
          <a:solidFill>
            <a:srgbClr val="F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557016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Data discipline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3922776"/>
            <a:ext cx="3090672" cy="9326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Official test split untouched for training, tuning, and retrieval references.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650992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C7E91"/>
                </a:solidFill>
                <a:latin typeface="Aptos"/>
              </a:defRPr>
            </a:pPr>
            <a:r>
              <a:t>Source: PolyAI/BANKING77 on Hugging Face  •  English  •  Dataset card attributes CC BY 4.0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68E73"/>
                </a:solidFill>
                <a:latin typeface="Aptos"/>
              </a:defRPr>
            </a:pPr>
            <a:r>
              <a:t>03  /  SOLUTION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02340"/>
                </a:solidFill>
                <a:latin typeface="Aptos"/>
              </a:defRPr>
            </a:pPr>
            <a:r>
              <a:t>Compare two different ways to route a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658368" cy="50292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C7E91"/>
                </a:solidFill>
                <a:latin typeface="Aptos"/>
              </a:defRPr>
            </a:pPr>
            <a:r>
              <a:t>ISOM5240  •  GROUP 02  •  SHEN, Jia (21158135)     |   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73352"/>
            <a:ext cx="5321808" cy="3456432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9632" y="1673352"/>
            <a:ext cx="5321808" cy="3456432"/>
          </a:xfrm>
          <a:prstGeom prst="roundRect">
            <a:avLst>
              <a:gd name="adj" fmla="val 8000"/>
            </a:avLst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920240"/>
            <a:ext cx="438912" cy="438912"/>
          </a:xfrm>
          <a:prstGeom prst="ellipse">
            <a:avLst/>
          </a:prstGeom>
          <a:solidFill>
            <a:srgbClr val="4BA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0253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874519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102340"/>
                </a:solidFill>
                <a:latin typeface="Aptos"/>
              </a:defRPr>
            </a:pPr>
            <a:r>
              <a:t>Fine-tuned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32888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4BA6EA"/>
                </a:solidFill>
                <a:latin typeface="Aptos"/>
              </a:defRPr>
            </a:pPr>
            <a:r>
              <a:t>DistilBERT  /  Text classification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3099816"/>
            <a:ext cx="91440" cy="91440"/>
          </a:xfrm>
          <a:prstGeom prst="ellipse">
            <a:avLst/>
          </a:prstGeom>
          <a:solidFill>
            <a:srgbClr val="4BA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2990088"/>
            <a:ext cx="431596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43244"/>
                </a:solidFill>
                <a:latin typeface="Aptos"/>
              </a:defRPr>
            </a:pPr>
            <a:r>
              <a:t>Learn 77 intent classes from labeled training examples.</a:t>
            </a:r>
          </a:p>
        </p:txBody>
      </p:sp>
      <p:sp>
        <p:nvSpPr>
          <p:cNvPr id="14" name="Oval 13"/>
          <p:cNvSpPr/>
          <p:nvPr/>
        </p:nvSpPr>
        <p:spPr>
          <a:xfrm>
            <a:off x="987552" y="3840480"/>
            <a:ext cx="91440" cy="91440"/>
          </a:xfrm>
          <a:prstGeom prst="ellipse">
            <a:avLst/>
          </a:prstGeom>
          <a:solidFill>
            <a:srgbClr val="4BA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3730752"/>
            <a:ext cx="431596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43244"/>
                </a:solidFill>
                <a:latin typeface="Aptos"/>
              </a:defRPr>
            </a:pPr>
            <a:r>
              <a:t>Return ranked labels with model scores.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4581144"/>
            <a:ext cx="91440" cy="91440"/>
          </a:xfrm>
          <a:prstGeom prst="ellipse">
            <a:avLst/>
          </a:prstGeom>
          <a:solidFill>
            <a:srgbClr val="4BA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4471416"/>
            <a:ext cx="431596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43244"/>
                </a:solidFill>
                <a:latin typeface="Aptos"/>
              </a:defRPr>
            </a:pPr>
            <a:r>
              <a:t>Fine-tune one primary model for the project.</a:t>
            </a:r>
          </a:p>
        </p:txBody>
      </p:sp>
      <p:sp>
        <p:nvSpPr>
          <p:cNvPr id="18" name="Oval 17"/>
          <p:cNvSpPr/>
          <p:nvPr/>
        </p:nvSpPr>
        <p:spPr>
          <a:xfrm>
            <a:off x="6455664" y="1920240"/>
            <a:ext cx="438912" cy="438912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00253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874519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102340"/>
                </a:solidFill>
                <a:latin typeface="Aptos"/>
              </a:defRPr>
            </a:pPr>
            <a:r>
              <a:t>Pretrained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32888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268E73"/>
                </a:solidFill>
                <a:latin typeface="Aptos"/>
              </a:defRPr>
            </a:pPr>
            <a:r>
              <a:t>MiniLM  /  Embeddings + cosine similarity</a:t>
            </a:r>
          </a:p>
        </p:txBody>
      </p:sp>
      <p:sp>
        <p:nvSpPr>
          <p:cNvPr id="22" name="Oval 21"/>
          <p:cNvSpPr/>
          <p:nvPr/>
        </p:nvSpPr>
        <p:spPr>
          <a:xfrm>
            <a:off x="6510528" y="3099816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990088"/>
            <a:ext cx="431596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43244"/>
                </a:solidFill>
                <a:latin typeface="Aptos"/>
              </a:defRPr>
            </a:pPr>
            <a:r>
              <a:t>Encode a balanced set of training examples.</a:t>
            </a:r>
          </a:p>
        </p:txBody>
      </p:sp>
      <p:sp>
        <p:nvSpPr>
          <p:cNvPr id="24" name="Oval 23"/>
          <p:cNvSpPr/>
          <p:nvPr/>
        </p:nvSpPr>
        <p:spPr>
          <a:xfrm>
            <a:off x="6510528" y="3840480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730752"/>
            <a:ext cx="431596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43244"/>
                </a:solidFill>
                <a:latin typeface="Aptos"/>
              </a:defRPr>
            </a:pPr>
            <a:r>
              <a:t>Find the five closest examples to a new query.</a:t>
            </a:r>
          </a:p>
        </p:txBody>
      </p:sp>
      <p:sp>
        <p:nvSpPr>
          <p:cNvPr id="26" name="Oval 25"/>
          <p:cNvSpPr/>
          <p:nvPr/>
        </p:nvSpPr>
        <p:spPr>
          <a:xfrm>
            <a:off x="6510528" y="4581144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471416"/>
            <a:ext cx="431596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243244"/>
                </a:solidFill>
                <a:latin typeface="Aptos"/>
              </a:defRPr>
            </a:pPr>
            <a:r>
              <a:t>Choose the intent with the most neighbor votes.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5440680"/>
            <a:ext cx="8366760" cy="594360"/>
          </a:xfrm>
          <a:prstGeom prst="roundRect">
            <a:avLst>
              <a:gd name="adj" fmla="val 8000"/>
            </a:avLst>
          </a:prstGeom>
          <a:solidFill>
            <a:srgbClr val="10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9696" y="5596128"/>
            <a:ext cx="7955279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Same domain  •  Same held-out test examples  •  Accuracy + runtime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68E73"/>
                </a:solidFill>
                <a:latin typeface="Aptos"/>
              </a:defRPr>
            </a:pPr>
            <a:r>
              <a:t>04  / 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02340"/>
                </a:solidFill>
                <a:latin typeface="Aptos"/>
              </a:defRPr>
            </a:pPr>
            <a:r>
              <a:t>Train on intent labels; choose by validation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658368" cy="50292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C7E91"/>
                </a:solidFill>
                <a:latin typeface="Aptos"/>
              </a:defRPr>
            </a:pPr>
            <a:r>
              <a:t>ISOM5240  •  GROUP 02  •  SHEN, Jia (21158135)     |   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65376"/>
            <a:ext cx="2395728" cy="2148840"/>
          </a:xfrm>
          <a:prstGeom prst="roundRect">
            <a:avLst>
              <a:gd name="adj" fmla="val 8000"/>
            </a:avLst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57400"/>
            <a:ext cx="457200" cy="457200"/>
          </a:xfrm>
          <a:prstGeom prst="ellipse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57984"/>
            <a:ext cx="457200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01168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Official train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72968"/>
            <a:ext cx="19933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10,003 queries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77 classes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2926080"/>
            <a:ext cx="320039" cy="0"/>
          </a:xfrm>
          <a:prstGeom prst="line">
            <a:avLst/>
          </a:prstGeom>
          <a:ln w="21590">
            <a:solidFill>
              <a:srgbClr val="00B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84448" y="1865376"/>
            <a:ext cx="2395728" cy="2148840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67328" y="2057400"/>
            <a:ext cx="457200" cy="457200"/>
          </a:xfrm>
          <a:prstGeom prst="ellipse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157984"/>
            <a:ext cx="457200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97480"/>
            <a:ext cx="201168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Stratified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172968"/>
            <a:ext cx="19933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9,002 train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1,001 validation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926080"/>
            <a:ext cx="320039" cy="0"/>
          </a:xfrm>
          <a:prstGeom prst="line">
            <a:avLst/>
          </a:prstGeom>
          <a:ln w="21590">
            <a:solidFill>
              <a:srgbClr val="00B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19088" y="1865376"/>
            <a:ext cx="2395728" cy="2148840"/>
          </a:xfrm>
          <a:prstGeom prst="roundRect">
            <a:avLst>
              <a:gd name="adj" fmla="val 8000"/>
            </a:avLst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01968" y="2057400"/>
            <a:ext cx="457200" cy="45720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157984"/>
            <a:ext cx="457200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697480"/>
            <a:ext cx="201168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Fine-tune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172968"/>
            <a:ext cx="19933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DistilBERT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3 epochs • 2e-5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0" y="2926080"/>
            <a:ext cx="320040" cy="0"/>
          </a:xfrm>
          <a:prstGeom prst="line">
            <a:avLst/>
          </a:prstGeom>
          <a:ln w="21590">
            <a:solidFill>
              <a:srgbClr val="00B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53728" y="1865376"/>
            <a:ext cx="2395728" cy="2148840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36608" y="2057400"/>
            <a:ext cx="457200" cy="457200"/>
          </a:xfrm>
          <a:prstGeom prst="ellipse">
            <a:avLst/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157984"/>
            <a:ext cx="457200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697480"/>
            <a:ext cx="201168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Select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3172968"/>
            <a:ext cx="19933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Best validation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498848"/>
            <a:ext cx="5148072" cy="1115568"/>
          </a:xfrm>
          <a:prstGeom prst="roundRect">
            <a:avLst>
              <a:gd name="adj" fmla="val 8000"/>
            </a:avLst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690872"/>
            <a:ext cx="44805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68E73"/>
                </a:solidFill>
                <a:latin typeface="Aptos"/>
              </a:defRPr>
            </a:pPr>
            <a:r>
              <a:t>VALIDATION  /  1,001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5001768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02340"/>
                </a:solidFill>
                <a:latin typeface="Aptos"/>
              </a:defRPr>
            </a:pPr>
            <a:r>
              <a:t>85.21% accuracy  •  0.8302 macro-F1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498848"/>
            <a:ext cx="5148072" cy="1115568"/>
          </a:xfrm>
          <a:prstGeom prst="roundRect">
            <a:avLst>
              <a:gd name="adj" fmla="val 8000"/>
            </a:avLst>
          </a:prstGeom>
          <a:solidFill>
            <a:srgbClr val="FFF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690872"/>
            <a:ext cx="455371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9B6F15"/>
                </a:solidFill>
                <a:latin typeface="Aptos"/>
              </a:defRPr>
            </a:pPr>
            <a:r>
              <a:t>TEST SET  /  SEALED UNTIL FINAL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001768"/>
            <a:ext cx="45537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02340"/>
                </a:solidFill>
                <a:latin typeface="Aptos"/>
              </a:defRPr>
            </a:pPr>
            <a:r>
              <a:t>3,080 official test examples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897880"/>
            <a:ext cx="10652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C7E91"/>
                </a:solidFill>
                <a:latin typeface="Aptos"/>
              </a:defRPr>
            </a:pPr>
            <a:r>
              <a:t>Reproducibility: seed 42  •  max sequence length 128  •  model saved with intent-label mapping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68E73"/>
                </a:solidFill>
                <a:latin typeface="Aptos"/>
              </a:defRPr>
            </a:pPr>
            <a:r>
              <a:t>05  / 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02340"/>
                </a:solidFill>
                <a:latin typeface="Aptos"/>
              </a:defRPr>
            </a:pPr>
            <a:r>
              <a:t>On the test set, retrieval leads on both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658368" cy="50292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C7E91"/>
                </a:solidFill>
                <a:latin typeface="Aptos"/>
              </a:defRPr>
            </a:pPr>
            <a:r>
              <a:t>ISOM5240  •  GROUP 02  •  SHEN, Jia (21158135)     |   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645920"/>
            <a:ext cx="71323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C7E91"/>
                </a:solidFill>
                <a:latin typeface="Aptos"/>
              </a:defRPr>
            </a:pPr>
            <a:r>
              <a:t>OFFICIAL HELD-OUT TEST SPLIT  /  3,080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3657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6C7E91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21408"/>
            <a:ext cx="1737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6C7E91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21408"/>
            <a:ext cx="15544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6C7E91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21408"/>
            <a:ext cx="1645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6C7E91"/>
                </a:solidFill>
                <a:latin typeface="Aptos"/>
              </a:defRPr>
            </a:pPr>
            <a:r>
              <a:t>ms /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542032"/>
            <a:ext cx="10762488" cy="987552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24912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02340"/>
                </a:solidFill>
                <a:latin typeface="Aptos"/>
              </a:defRPr>
            </a:pPr>
            <a:r>
              <a:t>Fine-tuned DistilBERT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715768"/>
            <a:ext cx="155448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100" b="1">
                <a:solidFill>
                  <a:srgbClr val="102340"/>
                </a:solidFill>
                <a:latin typeface="Aptos"/>
              </a:defRPr>
            </a:pPr>
            <a:r>
              <a:t>83.18%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715768"/>
            <a:ext cx="146304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102340"/>
                </a:solidFill>
                <a:latin typeface="Aptos"/>
              </a:defRPr>
            </a:pPr>
            <a:r>
              <a:t>0.8224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715768"/>
            <a:ext cx="146304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102340"/>
                </a:solidFill>
                <a:latin typeface="Aptos"/>
              </a:defRPr>
            </a:pPr>
            <a:r>
              <a:t>1.085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75887"/>
            <a:ext cx="10762488" cy="987552"/>
          </a:xfrm>
          <a:prstGeom prst="roundRect">
            <a:avLst>
              <a:gd name="adj" fmla="val 8000"/>
            </a:avLst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58768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02340"/>
                </a:solidFill>
                <a:latin typeface="Aptos"/>
              </a:defRPr>
            </a:pPr>
            <a:r>
              <a:t>Pretrained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849624"/>
            <a:ext cx="155448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100" b="1">
                <a:solidFill>
                  <a:srgbClr val="268E73"/>
                </a:solidFill>
                <a:latin typeface="Aptos"/>
              </a:defRPr>
            </a:pPr>
            <a:r>
              <a:t>87.18%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849624"/>
            <a:ext cx="146304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268E73"/>
                </a:solidFill>
                <a:latin typeface="Aptos"/>
              </a:defRPr>
            </a:pPr>
            <a:r>
              <a:t>0.8714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849624"/>
            <a:ext cx="1463040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268E73"/>
                </a:solidFill>
                <a:latin typeface="Aptos"/>
              </a:defRPr>
            </a:pPr>
            <a:r>
              <a:t>0.541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001768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10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21224"/>
            <a:ext cx="466344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+3.99 percentage 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01768"/>
            <a:ext cx="5138928" cy="822960"/>
          </a:xfrm>
          <a:prstGeom prst="roundRect">
            <a:avLst>
              <a:gd name="adj" fmla="val 8000"/>
            </a:avLst>
          </a:prstGeom>
          <a:solidFill>
            <a:srgbClr val="1C3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5221224"/>
            <a:ext cx="46451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0.541 s faster  /  full test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2589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6C7E91"/>
                </a:solidFill>
                <a:latin typeface="Aptos"/>
              </a:defRPr>
            </a:pPr>
            <a:r>
              <a:t>Test-set runtime: classifier 3.343 s; retrieval 1.666 s. Retrieval setup: 2.065 s. Measured locally on Apple 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68E73"/>
                </a:solidFill>
                <a:latin typeface="Aptos"/>
              </a:defRPr>
            </a:pPr>
            <a:r>
              <a:t>06  / 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02340"/>
                </a:solidFill>
                <a:latin typeface="Aptos"/>
              </a:defRPr>
            </a:pPr>
            <a:r>
              <a:t>A small app makes the model testable by a business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658368" cy="50292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C7E91"/>
                </a:solidFill>
                <a:latin typeface="Aptos"/>
              </a:defRPr>
            </a:pPr>
            <a:r>
              <a:t>ISOM5240  •  GROUP 02  •  SHEN, Jia (21158135)     |   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73352"/>
            <a:ext cx="5074920" cy="4261104"/>
          </a:xfrm>
          <a:prstGeom prst="roundRect">
            <a:avLst>
              <a:gd name="adj" fmla="val 8000"/>
            </a:avLst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883664"/>
            <a:ext cx="4645152" cy="320040"/>
          </a:xfrm>
          <a:prstGeom prst="roundRect">
            <a:avLst>
              <a:gd name="adj" fmla="val 8000"/>
            </a:avLst>
          </a:prstGeom>
          <a:solidFill>
            <a:srgbClr val="10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956816"/>
            <a:ext cx="4315968" cy="1463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BANKING QUERY INTENT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87168"/>
            <a:ext cx="40233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02340"/>
                </a:solidFill>
                <a:latin typeface="Aptos"/>
              </a:defRPr>
            </a:pPr>
            <a:r>
              <a:t>Customer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2816352"/>
            <a:ext cx="431596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99232"/>
            <a:ext cx="3986784" cy="4480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I am still waiting for my bank card to arrive.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3831336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922776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Classify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471416"/>
            <a:ext cx="219456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6C7E91"/>
                </a:solidFill>
                <a:latin typeface="Aptos"/>
              </a:defRPr>
            </a:pPr>
            <a:r>
              <a:t>PREDICTED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27448"/>
            <a:ext cx="36576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100" b="1">
                <a:solidFill>
                  <a:srgbClr val="102340"/>
                </a:solidFill>
                <a:latin typeface="Aptos"/>
              </a:defRPr>
            </a:pPr>
            <a:r>
              <a:t>Card Arrival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12664"/>
            <a:ext cx="427939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68E73"/>
                </a:solidFill>
                <a:latin typeface="Aptos"/>
              </a:defRPr>
            </a:pPr>
            <a:r>
              <a:t>Sample browser check: both pipelines returned Card Arrival.</a:t>
            </a:r>
          </a:p>
        </p:txBody>
      </p:sp>
      <p:sp>
        <p:nvSpPr>
          <p:cNvPr id="17" name="Oval 16"/>
          <p:cNvSpPr/>
          <p:nvPr/>
        </p:nvSpPr>
        <p:spPr>
          <a:xfrm>
            <a:off x="6245352" y="1956816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847088"/>
            <a:ext cx="472744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244"/>
                </a:solidFill>
                <a:latin typeface="Aptos"/>
              </a:defRPr>
            </a:pPr>
            <a:r>
              <a:t>Choose classifier, retrieval, or side-by-side comparison.</a:t>
            </a:r>
          </a:p>
        </p:txBody>
      </p:sp>
      <p:sp>
        <p:nvSpPr>
          <p:cNvPr id="19" name="Oval 18"/>
          <p:cNvSpPr/>
          <p:nvPr/>
        </p:nvSpPr>
        <p:spPr>
          <a:xfrm>
            <a:off x="6245352" y="2834640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724912"/>
            <a:ext cx="472744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244"/>
                </a:solidFill>
                <a:latin typeface="Aptos"/>
              </a:defRPr>
            </a:pPr>
            <a:r>
              <a:t>Display top intent and alternative categories.</a:t>
            </a:r>
          </a:p>
        </p:txBody>
      </p:sp>
      <p:sp>
        <p:nvSpPr>
          <p:cNvPr id="21" name="Oval 20"/>
          <p:cNvSpPr/>
          <p:nvPr/>
        </p:nvSpPr>
        <p:spPr>
          <a:xfrm>
            <a:off x="6245352" y="3712463"/>
            <a:ext cx="91440" cy="91440"/>
          </a:xfrm>
          <a:prstGeom prst="ellipse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602736"/>
            <a:ext cx="472744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43244"/>
                </a:solidFill>
                <a:latin typeface="Aptos"/>
              </a:defRPr>
            </a:pPr>
            <a:r>
              <a:t>Keep retrieval similarity distinct from model probability.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4590288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4727448"/>
            <a:ext cx="443484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9B6F15"/>
                </a:solidFill>
                <a:latin typeface="Aptos"/>
              </a:defRPr>
            </a:pPr>
            <a:r>
              <a:t>DEPLOYMENT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5020056"/>
            <a:ext cx="440740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02340"/>
                </a:solidFill>
                <a:latin typeface="Aptos"/>
              </a:defRPr>
            </a:pPr>
            <a:r>
              <a:t>Local app verified  •  Public URL not yet deployed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98932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C7E91"/>
                </a:solidFill>
                <a:latin typeface="Aptos"/>
              </a:defRPr>
            </a:pPr>
            <a:r>
              <a:t>App: [Streamlit URL]     Model: [Hugging Face URL]     GitHub: [repository URL]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68E73"/>
                </a:solidFill>
                <a:latin typeface="Aptos"/>
              </a:defRPr>
            </a:pPr>
            <a:r>
              <a:t>07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102340"/>
                </a:solidFill>
                <a:latin typeface="Aptos"/>
              </a:defRPr>
            </a:pPr>
            <a:r>
              <a:t>Useful benchmark result—with clear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16736"/>
            <a:ext cx="658368" cy="50292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6C7E91"/>
                </a:solidFill>
                <a:latin typeface="Aptos"/>
              </a:defRPr>
            </a:pPr>
            <a:r>
              <a:t>ISOM5240  •  GROUP 02  •  SHEN, Jia (21158135)     |   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3438144" cy="1965960"/>
          </a:xfrm>
          <a:prstGeom prst="roundRect">
            <a:avLst>
              <a:gd name="adj" fmla="val 8000"/>
            </a:avLst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755648"/>
            <a:ext cx="64008" cy="1965960"/>
          </a:xfrm>
          <a:prstGeom prst="rect">
            <a:avLst/>
          </a:prstGeom>
          <a:solidFill>
            <a:srgbClr val="00B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11095"/>
            <a:ext cx="3072384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What we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76856"/>
            <a:ext cx="3072384" cy="1316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Both approaches work on BANKING77. Retrieval achieved the higher held-out test accuracy and macro F1 in this experiment.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55648"/>
            <a:ext cx="3438144" cy="1965960"/>
          </a:xfrm>
          <a:prstGeom prst="roundRect">
            <a:avLst>
              <a:gd name="adj" fmla="val 8000"/>
            </a:avLst>
          </a:prstGeom>
          <a:solidFill>
            <a:srgbClr val="FFF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755648"/>
            <a:ext cx="64008" cy="1965960"/>
          </a:xfrm>
          <a:prstGeom prst="rect">
            <a:avLst/>
          </a:prstGeom>
          <a:solidFill>
            <a:srgbClr val="F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11095"/>
            <a:ext cx="3072384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What we cannot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76856"/>
            <a:ext cx="3072384" cy="1316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BANKING77 is not HSBC data. We have not measured HSBC-specific accuracy, faster human handling, or deployed cloud latency.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755648"/>
            <a:ext cx="3438144" cy="1965960"/>
          </a:xfrm>
          <a:prstGeom prst="roundRect">
            <a:avLst>
              <a:gd name="adj" fmla="val 8000"/>
            </a:avLst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755648"/>
            <a:ext cx="64008" cy="1965960"/>
          </a:xfrm>
          <a:prstGeom prst="rect">
            <a:avLst/>
          </a:prstGeom>
          <a:solidFill>
            <a:srgbClr val="4BA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1911095"/>
            <a:ext cx="3072384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02340"/>
                </a:solidFill>
                <a:latin typeface="Aptos"/>
              </a:defRPr>
            </a:pPr>
            <a:r>
              <a:t>What comes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276856"/>
            <a:ext cx="3072384" cy="1316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Publish the model and app, test the public app on held-out examples, and add screenshots and URLs to the report.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24528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6C7E91"/>
                </a:solidFill>
                <a:latin typeface="Aptos"/>
              </a:defRPr>
            </a:pPr>
            <a:r>
              <a:t>DELIVERABLE 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59943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68E7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459943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Fine-tuned model + two pipelines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91947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68E7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491947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Full 3,080-example evaluation +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23951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68E7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" y="523951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Executed notebooks + 7-page report 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55955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8B9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555955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Public deployment, screenshots, final URLs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879592"/>
            <a:ext cx="25603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8B94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1016" y="5879592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43244"/>
                </a:solidFill>
                <a:latin typeface="Aptos"/>
              </a:defRPr>
            </a:pPr>
            <a:r>
              <a:t>Group-recorded face-visible MP4 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4370832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10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4645152"/>
            <a:ext cx="323697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5166360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00B9AA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HSBC Banking Query Intent Routing</dc:title>
  <dc:subject>ISOM5240 deep learning business application</dc:subject>
  <dc:creator>SHEN, Jia (21158135)</dc:creator>
  <cp:keywords>BANKING77, DistilBERT, intent classification, ISOM5240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